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10693400" cx="7556500"/>
  <p:notesSz cx="6858000" cy="9144000"/>
  <p:embeddedFontLst>
    <p:embeddedFont>
      <p:font typeface="Montserrat"/>
      <p:bold r:id="rId10"/>
      <p:boldItalic r:id="rId11"/>
    </p:embeddedFont>
    <p:embeddedFont>
      <p:font typeface="Montserrat Medium"/>
      <p:regular r:id="rId12"/>
      <p:bold r:id="rId13"/>
      <p:italic r:id="rId14"/>
      <p:boldItalic r:id="rId15"/>
    </p:embeddedFont>
    <p:embeddedFont>
      <p:font typeface="Open Sans"/>
      <p:bold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8" roundtripDataSignature="AMtx7mhaEPU8t7OGAzqjS45HqzWPLLc2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bold.fntdata"/><Relationship Id="rId13" Type="http://schemas.openxmlformats.org/officeDocument/2006/relationships/font" Target="fonts/MontserratMedium-bold.fntdata"/><Relationship Id="rId12" Type="http://schemas.openxmlformats.org/officeDocument/2006/relationships/font" Target="fonts/Montserrat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Medium-boldItalic.fntdata"/><Relationship Id="rId14" Type="http://schemas.openxmlformats.org/officeDocument/2006/relationships/font" Target="fonts/MontserratMedium-italic.fntdata"/><Relationship Id="rId17" Type="http://schemas.openxmlformats.org/officeDocument/2006/relationships/font" Target="fonts/OpenSans-boldItalic.fntdata"/><Relationship Id="rId16"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996c0e42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7996c0e42b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3"/>
          <p:cNvSpPr/>
          <p:nvPr>
            <p:ph idx="2" type="pic"/>
          </p:nvPr>
        </p:nvSpPr>
        <p:spPr>
          <a:xfrm>
            <a:off x="1792288" y="612775"/>
            <a:ext cx="5486400" cy="4114800"/>
          </a:xfrm>
          <a:prstGeom prst="rect">
            <a:avLst/>
          </a:prstGeom>
          <a:noFill/>
          <a:ln>
            <a:noFill/>
          </a:ln>
        </p:spPr>
      </p:sp>
      <p:sp>
        <p:nvSpPr>
          <p:cNvPr id="64" name="Google Shape;64;p1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11" Type="http://schemas.openxmlformats.org/officeDocument/2006/relationships/image" Target="../media/image2.jpg"/><Relationship Id="rId10" Type="http://schemas.openxmlformats.org/officeDocument/2006/relationships/image" Target="../media/image13.png"/><Relationship Id="rId9" Type="http://schemas.openxmlformats.org/officeDocument/2006/relationships/image" Target="../media/image9.jp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hyperlink" Target="https://www.jotform.com/build/252348875142462?iak=f289b22d286ce4d817bca503946d3391-5c57c83c9aab290f" TargetMode="External"/><Relationship Id="rId7" Type="http://schemas.openxmlformats.org/officeDocument/2006/relationships/hyperlink" Target="https://docs.google.com/spreadsheets/d/1-Z-724SEbMttaTj5MBwLxcIORvEQUNPPQLh34vN25mQ/edit?usp=sharing" TargetMode="External"/><Relationship Id="rId8" Type="http://schemas.openxmlformats.org/officeDocument/2006/relationships/hyperlink" Target="https://drive.google.com/drive/folders/11_WNT3GpE383N3zO2hSTP2wJaSgodOWs?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558422" y="-106560"/>
            <a:ext cx="11513391" cy="1266473"/>
          </a:xfrm>
          <a:custGeom>
            <a:rect b="b" l="l" r="r" t="t"/>
            <a:pathLst>
              <a:path extrusionOk="0" h="1266473" w="11513391">
                <a:moveTo>
                  <a:pt x="0" y="0"/>
                </a:moveTo>
                <a:lnTo>
                  <a:pt x="11513391" y="0"/>
                </a:lnTo>
                <a:lnTo>
                  <a:pt x="11513391" y="1266473"/>
                </a:lnTo>
                <a:lnTo>
                  <a:pt x="0" y="1266473"/>
                </a:lnTo>
                <a:lnTo>
                  <a:pt x="0" y="0"/>
                </a:lnTo>
                <a:close/>
              </a:path>
            </a:pathLst>
          </a:custGeom>
          <a:blipFill rotWithShape="1">
            <a:blip r:embed="rId3">
              <a:alphaModFix/>
            </a:blip>
            <a:stretch>
              <a:fillRect b="0" l="0" r="0" t="0"/>
            </a:stretch>
          </a:blipFill>
          <a:ln>
            <a:noFill/>
          </a:ln>
        </p:spPr>
      </p:sp>
      <p:sp>
        <p:nvSpPr>
          <p:cNvPr id="85" name="Google Shape;85;p1"/>
          <p:cNvSpPr/>
          <p:nvPr/>
        </p:nvSpPr>
        <p:spPr>
          <a:xfrm flipH="1">
            <a:off x="-1302315" y="9643572"/>
            <a:ext cx="9531159" cy="1048428"/>
          </a:xfrm>
          <a:custGeom>
            <a:rect b="b" l="l" r="r" t="t"/>
            <a:pathLst>
              <a:path extrusionOk="0" h="1048428" w="9531159">
                <a:moveTo>
                  <a:pt x="9531159" y="0"/>
                </a:moveTo>
                <a:lnTo>
                  <a:pt x="0" y="0"/>
                </a:lnTo>
                <a:lnTo>
                  <a:pt x="0" y="1048428"/>
                </a:lnTo>
                <a:lnTo>
                  <a:pt x="9531159" y="1048428"/>
                </a:lnTo>
                <a:lnTo>
                  <a:pt x="9531159" y="0"/>
                </a:lnTo>
                <a:close/>
              </a:path>
            </a:pathLst>
          </a:custGeom>
          <a:blipFill rotWithShape="1">
            <a:blip r:embed="rId3">
              <a:alphaModFix/>
            </a:blip>
            <a:stretch>
              <a:fillRect b="0" l="0" r="0" t="0"/>
            </a:stretch>
          </a:blipFill>
          <a:ln>
            <a:noFill/>
          </a:ln>
        </p:spPr>
      </p:sp>
      <p:sp>
        <p:nvSpPr>
          <p:cNvPr id="86" name="Google Shape;86;p1"/>
          <p:cNvSpPr/>
          <p:nvPr/>
        </p:nvSpPr>
        <p:spPr>
          <a:xfrm>
            <a:off x="5096013" y="9354658"/>
            <a:ext cx="1878689" cy="366304"/>
          </a:xfrm>
          <a:custGeom>
            <a:rect b="b" l="l" r="r" t="t"/>
            <a:pathLst>
              <a:path extrusionOk="0" h="366304" w="1878689">
                <a:moveTo>
                  <a:pt x="0" y="0"/>
                </a:moveTo>
                <a:lnTo>
                  <a:pt x="1878689" y="0"/>
                </a:lnTo>
                <a:lnTo>
                  <a:pt x="1878689" y="366303"/>
                </a:lnTo>
                <a:lnTo>
                  <a:pt x="0" y="366303"/>
                </a:lnTo>
                <a:lnTo>
                  <a:pt x="0" y="0"/>
                </a:lnTo>
                <a:close/>
              </a:path>
            </a:pathLst>
          </a:custGeom>
          <a:blipFill rotWithShape="1">
            <a:blip r:embed="rId4">
              <a:alphaModFix/>
            </a:blip>
            <a:stretch>
              <a:fillRect b="0" l="0" r="0" t="-148225"/>
            </a:stretch>
          </a:blipFill>
          <a:ln>
            <a:noFill/>
          </a:ln>
        </p:spPr>
      </p:sp>
      <p:sp>
        <p:nvSpPr>
          <p:cNvPr id="87" name="Google Shape;87;p1"/>
          <p:cNvSpPr/>
          <p:nvPr/>
        </p:nvSpPr>
        <p:spPr>
          <a:xfrm>
            <a:off x="104047" y="398243"/>
            <a:ext cx="1447906" cy="434185"/>
          </a:xfrm>
          <a:custGeom>
            <a:rect b="b" l="l" r="r" t="t"/>
            <a:pathLst>
              <a:path extrusionOk="0" h="434185" w="1447906">
                <a:moveTo>
                  <a:pt x="0" y="0"/>
                </a:moveTo>
                <a:lnTo>
                  <a:pt x="1447906" y="0"/>
                </a:lnTo>
                <a:lnTo>
                  <a:pt x="1447906" y="434186"/>
                </a:lnTo>
                <a:lnTo>
                  <a:pt x="0" y="434186"/>
                </a:lnTo>
                <a:lnTo>
                  <a:pt x="0" y="0"/>
                </a:lnTo>
                <a:close/>
              </a:path>
            </a:pathLst>
          </a:custGeom>
          <a:blipFill rotWithShape="1">
            <a:blip r:embed="rId4">
              <a:alphaModFix/>
            </a:blip>
            <a:stretch>
              <a:fillRect b="-62227" l="-496" r="-15" t="0"/>
            </a:stretch>
          </a:blipFill>
          <a:ln>
            <a:noFill/>
          </a:ln>
        </p:spPr>
      </p:sp>
      <p:sp>
        <p:nvSpPr>
          <p:cNvPr id="88" name="Google Shape;88;p1"/>
          <p:cNvSpPr txBox="1"/>
          <p:nvPr/>
        </p:nvSpPr>
        <p:spPr>
          <a:xfrm>
            <a:off x="214841" y="1331363"/>
            <a:ext cx="7130318" cy="428625"/>
          </a:xfrm>
          <a:prstGeom prst="rect">
            <a:avLst/>
          </a:prstGeom>
          <a:noFill/>
          <a:ln>
            <a:noFill/>
          </a:ln>
        </p:spPr>
        <p:txBody>
          <a:bodyPr anchorCtr="0" anchor="t" bIns="0" lIns="0" spcFirstLastPara="1" rIns="0" wrap="square" tIns="0">
            <a:spAutoFit/>
          </a:bodyPr>
          <a:lstStyle/>
          <a:p>
            <a:pPr indent="0" lvl="0" marL="0" marR="0" rtl="0" algn="ctr">
              <a:lnSpc>
                <a:spcPct val="120058"/>
              </a:lnSpc>
              <a:spcBef>
                <a:spcPts val="0"/>
              </a:spcBef>
              <a:spcAft>
                <a:spcPts val="0"/>
              </a:spcAft>
              <a:buNone/>
            </a:pPr>
            <a:r>
              <a:rPr b="1" i="0" lang="en-US" sz="1720" u="none" cap="none" strike="noStrike">
                <a:solidFill>
                  <a:srgbClr val="000000"/>
                </a:solidFill>
                <a:latin typeface="Montserrat"/>
                <a:ea typeface="Montserrat"/>
                <a:cs typeface="Montserrat"/>
                <a:sym typeface="Montserrat"/>
              </a:rPr>
              <a:t>FRANCHISE COMPLIANCE HEALTH CHECK</a:t>
            </a:r>
            <a:endParaRPr/>
          </a:p>
          <a:p>
            <a:pPr indent="0" lvl="0" marL="0" marR="0" rtl="0" algn="ctr">
              <a:lnSpc>
                <a:spcPct val="120017"/>
              </a:lnSpc>
              <a:spcBef>
                <a:spcPts val="0"/>
              </a:spcBef>
              <a:spcAft>
                <a:spcPts val="0"/>
              </a:spcAft>
              <a:buNone/>
            </a:pPr>
            <a:r>
              <a:rPr b="0" i="0" lang="en-US" sz="1149" u="none" cap="none" strike="noStrike">
                <a:solidFill>
                  <a:srgbClr val="EC1B24"/>
                </a:solidFill>
                <a:latin typeface="Montserrat"/>
                <a:ea typeface="Montserrat"/>
                <a:cs typeface="Montserrat"/>
                <a:sym typeface="Montserrat"/>
              </a:rPr>
              <a:t>MAINTAINING OPERATIONAL STANDARDS AND SUPPORTING FRANCHISEE SUCCESS</a:t>
            </a:r>
            <a:endParaRPr/>
          </a:p>
        </p:txBody>
      </p:sp>
      <p:sp>
        <p:nvSpPr>
          <p:cNvPr id="89" name="Google Shape;89;p1"/>
          <p:cNvSpPr txBox="1"/>
          <p:nvPr/>
        </p:nvSpPr>
        <p:spPr>
          <a:xfrm>
            <a:off x="282064" y="1893338"/>
            <a:ext cx="6918483" cy="679802"/>
          </a:xfrm>
          <a:prstGeom prst="rect">
            <a:avLst/>
          </a:prstGeom>
          <a:noFill/>
          <a:ln>
            <a:noFill/>
          </a:ln>
        </p:spPr>
        <p:txBody>
          <a:bodyPr anchorCtr="0" anchor="t" bIns="0" lIns="0" spcFirstLastPara="1" rIns="0" wrap="square" tIns="0">
            <a:spAutoFit/>
          </a:bodyPr>
          <a:lstStyle/>
          <a:p>
            <a:pPr indent="0" lvl="0" marL="0" marR="0" rtl="0" algn="l">
              <a:lnSpc>
                <a:spcPct val="147983"/>
              </a:lnSpc>
              <a:spcBef>
                <a:spcPts val="0"/>
              </a:spcBef>
              <a:spcAft>
                <a:spcPts val="0"/>
              </a:spcAft>
              <a:buNone/>
            </a:pPr>
            <a:r>
              <a:rPr b="1" i="0" lang="en-US" sz="1240" u="none" cap="none" strike="noStrike">
                <a:solidFill>
                  <a:srgbClr val="000000"/>
                </a:solidFill>
                <a:latin typeface="Montserrat"/>
                <a:ea typeface="Montserrat"/>
                <a:cs typeface="Montserrat"/>
                <a:sym typeface="Montserrat"/>
              </a:rPr>
              <a:t>OBJECTIVE: </a:t>
            </a:r>
            <a:endParaRPr/>
          </a:p>
          <a:p>
            <a:pPr indent="0" lvl="0" marL="0" marR="0" rtl="0" algn="l">
              <a:lnSpc>
                <a:spcPct val="147983"/>
              </a:lnSpc>
              <a:spcBef>
                <a:spcPts val="0"/>
              </a:spcBef>
              <a:spcAft>
                <a:spcPts val="0"/>
              </a:spcAft>
              <a:buNone/>
            </a:pPr>
            <a:r>
              <a:rPr b="0" i="0" lang="en-US" sz="1240" u="none" cap="none" strike="noStrike">
                <a:solidFill>
                  <a:srgbClr val="000000"/>
                </a:solidFill>
                <a:latin typeface="Montserrat"/>
                <a:ea typeface="Montserrat"/>
                <a:cs typeface="Montserrat"/>
                <a:sym typeface="Montserrat"/>
              </a:rPr>
              <a:t> To ensure all UAC franchise clubs comply with operational, brand, and safety standards through a standardized quarterly audit process.</a:t>
            </a:r>
            <a:endParaRPr/>
          </a:p>
        </p:txBody>
      </p:sp>
      <p:sp>
        <p:nvSpPr>
          <p:cNvPr id="90" name="Google Shape;90;p1"/>
          <p:cNvSpPr txBox="1"/>
          <p:nvPr/>
        </p:nvSpPr>
        <p:spPr>
          <a:xfrm>
            <a:off x="282064" y="2481446"/>
            <a:ext cx="6918600" cy="7125600"/>
          </a:xfrm>
          <a:prstGeom prst="rect">
            <a:avLst/>
          </a:prstGeom>
          <a:noFill/>
          <a:ln>
            <a:noFill/>
          </a:ln>
        </p:spPr>
        <p:txBody>
          <a:bodyPr anchorCtr="0" anchor="t" bIns="0" lIns="0" spcFirstLastPara="1" rIns="0" wrap="square" tIns="0">
            <a:spAutoFit/>
          </a:bodyPr>
          <a:lstStyle/>
          <a:p>
            <a:pPr indent="0" lvl="0" marL="0" marR="0" rtl="0" algn="l">
              <a:lnSpc>
                <a:spcPct val="101944"/>
              </a:lnSpc>
              <a:spcBef>
                <a:spcPts val="0"/>
              </a:spcBef>
              <a:spcAft>
                <a:spcPts val="0"/>
              </a:spcAft>
              <a:buNone/>
            </a:pPr>
            <a:r>
              <a:t/>
            </a:r>
            <a:endParaRPr b="0" i="0" sz="1700" u="none" cap="none" strike="noStrike">
              <a:solidFill>
                <a:schemeClr val="dk1"/>
              </a:solidFill>
              <a:latin typeface="Calibri"/>
              <a:ea typeface="Calibri"/>
              <a:cs typeface="Calibri"/>
              <a:sym typeface="Calibri"/>
            </a:endParaRPr>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PROCESS FLOW</a:t>
            </a:r>
            <a:endParaRPr b="1" i="0" sz="1140" u="none" cap="none" strike="noStrike">
              <a:solidFill>
                <a:srgbClr val="000000"/>
              </a:solidFill>
              <a:latin typeface="Montserrat"/>
              <a:ea typeface="Montserrat"/>
              <a:cs typeface="Montserrat"/>
              <a:sym typeface="Montserrat"/>
            </a:endParaRPr>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1: Access the Audit Form</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Click the official JotForm link https://form.jotform.com/252348875142462  or scan the QR Code </a:t>
            </a:r>
            <a:endParaRPr sz="1300"/>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2: Enter Audit Details</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Fill in all required information accurately.</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Ensure the correct staff email of the person conducting the audit is entered.</a:t>
            </a:r>
            <a:endParaRPr sz="1300"/>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3: Complete the Audit Checklist</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For each question, select Yes or No.</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Add notes or remarks where necessary.</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Attach supporting photos or documents where relevant.</a:t>
            </a:r>
            <a:endParaRPr sz="1300"/>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4: Review &amp; Submit</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Review all details before final submission.</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Click Submit.</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A “Thank You” notification will appear once the audit is successfully completed.</a:t>
            </a:r>
            <a:endParaRPr sz="1300"/>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5: Receive Audit Summary</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The staff who initiated the audit will automatically receive a copy of the completed audit summary via email.</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The Master Franchisee will also receive a copy of each submitted form.</a:t>
            </a:r>
            <a:endParaRPr sz="1300"/>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6: Share with Franchisee/Club Operator</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The auditor may forward the audit summary email to the relevant franchisee or club operator for their records.</a:t>
            </a:r>
            <a:endParaRPr sz="1300"/>
          </a:p>
          <a:p>
            <a:pPr indent="0" lvl="0" marL="0" marR="0" rtl="0" algn="l">
              <a:lnSpc>
                <a:spcPct val="147983"/>
              </a:lnSpc>
              <a:spcBef>
                <a:spcPts val="0"/>
              </a:spcBef>
              <a:spcAft>
                <a:spcPts val="0"/>
              </a:spcAft>
              <a:buNone/>
            </a:pPr>
            <a:r>
              <a:rPr b="1" i="0" lang="en-US" sz="1140" u="none" cap="none" strike="noStrike">
                <a:solidFill>
                  <a:srgbClr val="000000"/>
                </a:solidFill>
                <a:latin typeface="Montserrat"/>
                <a:ea typeface="Montserrat"/>
                <a:cs typeface="Montserrat"/>
                <a:sym typeface="Montserrat"/>
              </a:rPr>
              <a:t>Step 7: Consolidated Reporting</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The Master Franchisee will have access to an Excel summary of all audits via Google Sheets. </a:t>
            </a:r>
            <a:endParaRPr sz="1300"/>
          </a:p>
          <a:p>
            <a:pPr indent="0" lvl="0" marL="0" marR="0" rtl="0" algn="l">
              <a:lnSpc>
                <a:spcPct val="148136"/>
              </a:lnSpc>
              <a:spcBef>
                <a:spcPts val="0"/>
              </a:spcBef>
              <a:spcAft>
                <a:spcPts val="0"/>
              </a:spcAft>
              <a:buNone/>
            </a:pPr>
            <a:r>
              <a:rPr b="0" i="0" lang="en-US" sz="839" u="none" cap="none" strike="noStrike">
                <a:solidFill>
                  <a:srgbClr val="000000"/>
                </a:solidFill>
                <a:latin typeface="Montserrat"/>
                <a:ea typeface="Montserrat"/>
                <a:cs typeface="Montserrat"/>
                <a:sym typeface="Montserrat"/>
              </a:rPr>
              <a:t>        https://docs.google.com/spreadsheets/d/1-Z-724SEbMttaTj5MBwLxcIORvEQUNPPQLh34vN25mQ/edit</a:t>
            </a:r>
            <a:endParaRPr sz="1300"/>
          </a:p>
          <a:p>
            <a:pPr indent="-127518" lvl="1" marL="267737" marR="0" rtl="0" algn="l">
              <a:lnSpc>
                <a:spcPct val="147983"/>
              </a:lnSpc>
              <a:spcBef>
                <a:spcPts val="0"/>
              </a:spcBef>
              <a:spcAft>
                <a:spcPts val="0"/>
              </a:spcAft>
              <a:buClr>
                <a:srgbClr val="000000"/>
              </a:buClr>
              <a:buSzPts val="1140"/>
              <a:buFont typeface="Arial"/>
              <a:buChar char="•"/>
            </a:pPr>
            <a:r>
              <a:rPr b="0" i="0" lang="en-US" sz="1140" u="none" cap="none" strike="noStrike">
                <a:solidFill>
                  <a:srgbClr val="000000"/>
                </a:solidFill>
                <a:latin typeface="Montserrat"/>
                <a:ea typeface="Montserrat"/>
                <a:cs typeface="Montserrat"/>
                <a:sym typeface="Montserrat"/>
              </a:rPr>
              <a:t>A Quarterly PDF Consolidated Report will be generated and sent to the Master Franchisee for official record-keeping.</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a:off x="-558422" y="-97035"/>
            <a:ext cx="11513391" cy="1266473"/>
          </a:xfrm>
          <a:custGeom>
            <a:rect b="b" l="l" r="r" t="t"/>
            <a:pathLst>
              <a:path extrusionOk="0" h="1266473" w="11513391">
                <a:moveTo>
                  <a:pt x="0" y="0"/>
                </a:moveTo>
                <a:lnTo>
                  <a:pt x="11513391" y="0"/>
                </a:lnTo>
                <a:lnTo>
                  <a:pt x="11513391" y="1266473"/>
                </a:lnTo>
                <a:lnTo>
                  <a:pt x="0" y="1266473"/>
                </a:lnTo>
                <a:lnTo>
                  <a:pt x="0" y="0"/>
                </a:lnTo>
                <a:close/>
              </a:path>
            </a:pathLst>
          </a:custGeom>
          <a:blipFill rotWithShape="1">
            <a:blip r:embed="rId3">
              <a:alphaModFix/>
            </a:blip>
            <a:stretch>
              <a:fillRect b="0" l="0" r="0" t="0"/>
            </a:stretch>
          </a:blipFill>
          <a:ln>
            <a:noFill/>
          </a:ln>
        </p:spPr>
      </p:sp>
      <p:sp>
        <p:nvSpPr>
          <p:cNvPr id="96" name="Google Shape;96;p2"/>
          <p:cNvSpPr/>
          <p:nvPr/>
        </p:nvSpPr>
        <p:spPr>
          <a:xfrm flipH="1">
            <a:off x="-1299481" y="9643572"/>
            <a:ext cx="9531159" cy="1048428"/>
          </a:xfrm>
          <a:custGeom>
            <a:rect b="b" l="l" r="r" t="t"/>
            <a:pathLst>
              <a:path extrusionOk="0" h="1048428" w="9531159">
                <a:moveTo>
                  <a:pt x="9531159" y="0"/>
                </a:moveTo>
                <a:lnTo>
                  <a:pt x="0" y="0"/>
                </a:lnTo>
                <a:lnTo>
                  <a:pt x="0" y="1048428"/>
                </a:lnTo>
                <a:lnTo>
                  <a:pt x="9531159" y="1048428"/>
                </a:lnTo>
                <a:lnTo>
                  <a:pt x="9531159" y="0"/>
                </a:lnTo>
                <a:close/>
              </a:path>
            </a:pathLst>
          </a:custGeom>
          <a:blipFill rotWithShape="1">
            <a:blip r:embed="rId3">
              <a:alphaModFix/>
            </a:blip>
            <a:stretch>
              <a:fillRect b="0" l="0" r="0" t="0"/>
            </a:stretch>
          </a:blipFill>
          <a:ln>
            <a:noFill/>
          </a:ln>
        </p:spPr>
      </p:sp>
      <p:sp>
        <p:nvSpPr>
          <p:cNvPr id="97" name="Google Shape;97;p2"/>
          <p:cNvSpPr/>
          <p:nvPr/>
        </p:nvSpPr>
        <p:spPr>
          <a:xfrm>
            <a:off x="5096013" y="9354658"/>
            <a:ext cx="1878689" cy="366304"/>
          </a:xfrm>
          <a:custGeom>
            <a:rect b="b" l="l" r="r" t="t"/>
            <a:pathLst>
              <a:path extrusionOk="0" h="366304" w="1878689">
                <a:moveTo>
                  <a:pt x="0" y="0"/>
                </a:moveTo>
                <a:lnTo>
                  <a:pt x="1878689" y="0"/>
                </a:lnTo>
                <a:lnTo>
                  <a:pt x="1878689" y="366303"/>
                </a:lnTo>
                <a:lnTo>
                  <a:pt x="0" y="366303"/>
                </a:lnTo>
                <a:lnTo>
                  <a:pt x="0" y="0"/>
                </a:lnTo>
                <a:close/>
              </a:path>
            </a:pathLst>
          </a:custGeom>
          <a:blipFill rotWithShape="1">
            <a:blip r:embed="rId4">
              <a:alphaModFix/>
            </a:blip>
            <a:stretch>
              <a:fillRect b="0" l="0" r="0" t="-148225"/>
            </a:stretch>
          </a:blipFill>
          <a:ln>
            <a:noFill/>
          </a:ln>
        </p:spPr>
      </p:sp>
      <p:sp>
        <p:nvSpPr>
          <p:cNvPr id="98" name="Google Shape;98;p2"/>
          <p:cNvSpPr/>
          <p:nvPr/>
        </p:nvSpPr>
        <p:spPr>
          <a:xfrm>
            <a:off x="104047" y="398243"/>
            <a:ext cx="1447906" cy="434185"/>
          </a:xfrm>
          <a:custGeom>
            <a:rect b="b" l="l" r="r" t="t"/>
            <a:pathLst>
              <a:path extrusionOk="0" h="434185" w="1447906">
                <a:moveTo>
                  <a:pt x="0" y="0"/>
                </a:moveTo>
                <a:lnTo>
                  <a:pt x="1447906" y="0"/>
                </a:lnTo>
                <a:lnTo>
                  <a:pt x="1447906" y="434186"/>
                </a:lnTo>
                <a:lnTo>
                  <a:pt x="0" y="434186"/>
                </a:lnTo>
                <a:lnTo>
                  <a:pt x="0" y="0"/>
                </a:lnTo>
                <a:close/>
              </a:path>
            </a:pathLst>
          </a:custGeom>
          <a:blipFill rotWithShape="1">
            <a:blip r:embed="rId4">
              <a:alphaModFix/>
            </a:blip>
            <a:stretch>
              <a:fillRect b="-62227" l="-496" r="-15" t="0"/>
            </a:stretch>
          </a:blipFill>
          <a:ln>
            <a:noFill/>
          </a:ln>
        </p:spPr>
      </p:sp>
      <p:grpSp>
        <p:nvGrpSpPr>
          <p:cNvPr id="99" name="Google Shape;99;p2"/>
          <p:cNvGrpSpPr/>
          <p:nvPr/>
        </p:nvGrpSpPr>
        <p:grpSpPr>
          <a:xfrm>
            <a:off x="104047" y="1959846"/>
            <a:ext cx="7347118" cy="3151079"/>
            <a:chOff x="0" y="-28575"/>
            <a:chExt cx="9796158" cy="4201439"/>
          </a:xfrm>
        </p:grpSpPr>
        <p:sp>
          <p:nvSpPr>
            <p:cNvPr id="100" name="Google Shape;100;p2"/>
            <p:cNvSpPr/>
            <p:nvPr/>
          </p:nvSpPr>
          <p:spPr>
            <a:xfrm>
              <a:off x="65320" y="738050"/>
              <a:ext cx="2436134" cy="2436134"/>
            </a:xfrm>
            <a:custGeom>
              <a:rect b="b" l="l" r="r" t="t"/>
              <a:pathLst>
                <a:path extrusionOk="0" h="2436134" w="2436134">
                  <a:moveTo>
                    <a:pt x="0" y="0"/>
                  </a:moveTo>
                  <a:lnTo>
                    <a:pt x="2436134" y="0"/>
                  </a:lnTo>
                  <a:lnTo>
                    <a:pt x="2436134" y="2436133"/>
                  </a:lnTo>
                  <a:lnTo>
                    <a:pt x="0" y="2436133"/>
                  </a:lnTo>
                  <a:lnTo>
                    <a:pt x="0" y="0"/>
                  </a:lnTo>
                  <a:close/>
                </a:path>
              </a:pathLst>
            </a:custGeom>
            <a:blipFill rotWithShape="1">
              <a:blip r:embed="rId5">
                <a:alphaModFix/>
              </a:blip>
              <a:stretch>
                <a:fillRect b="0" l="0" r="0" t="0"/>
              </a:stretch>
            </a:blipFill>
            <a:ln>
              <a:noFill/>
            </a:ln>
          </p:spPr>
        </p:sp>
        <p:sp>
          <p:nvSpPr>
            <p:cNvPr id="101" name="Google Shape;101;p2"/>
            <p:cNvSpPr/>
            <p:nvPr/>
          </p:nvSpPr>
          <p:spPr>
            <a:xfrm>
              <a:off x="3059462" y="659253"/>
              <a:ext cx="3228682" cy="2514930"/>
            </a:xfrm>
            <a:custGeom>
              <a:rect b="b" l="l" r="r" t="t"/>
              <a:pathLst>
                <a:path extrusionOk="0" h="2514930" w="3228682">
                  <a:moveTo>
                    <a:pt x="0" y="0"/>
                  </a:moveTo>
                  <a:lnTo>
                    <a:pt x="3228682" y="0"/>
                  </a:lnTo>
                  <a:lnTo>
                    <a:pt x="3228682" y="2514930"/>
                  </a:lnTo>
                  <a:lnTo>
                    <a:pt x="0" y="2514930"/>
                  </a:lnTo>
                  <a:lnTo>
                    <a:pt x="0" y="0"/>
                  </a:lnTo>
                  <a:close/>
                </a:path>
              </a:pathLst>
            </a:custGeom>
            <a:blipFill rotWithShape="1">
              <a:blip r:embed="rId6">
                <a:alphaModFix/>
              </a:blip>
              <a:stretch>
                <a:fillRect b="-11558" l="-71825" r="-71081" t="-83350"/>
              </a:stretch>
            </a:blipFill>
            <a:ln>
              <a:noFill/>
            </a:ln>
          </p:spPr>
        </p:sp>
        <p:sp>
          <p:nvSpPr>
            <p:cNvPr id="102" name="Google Shape;102;p2"/>
            <p:cNvSpPr txBox="1"/>
            <p:nvPr/>
          </p:nvSpPr>
          <p:spPr>
            <a:xfrm>
              <a:off x="4265358" y="-28575"/>
              <a:ext cx="663878" cy="27641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245" u="none" cap="none" strike="noStrike">
                  <a:solidFill>
                    <a:srgbClr val="EC1D26"/>
                  </a:solidFill>
                  <a:latin typeface="Open Sans"/>
                  <a:ea typeface="Open Sans"/>
                  <a:cs typeface="Open Sans"/>
                  <a:sym typeface="Open Sans"/>
                </a:rPr>
                <a:t>STEP 2</a:t>
              </a:r>
              <a:endParaRPr/>
            </a:p>
          </p:txBody>
        </p:sp>
        <p:sp>
          <p:nvSpPr>
            <p:cNvPr id="103" name="Google Shape;103;p2"/>
            <p:cNvSpPr txBox="1"/>
            <p:nvPr/>
          </p:nvSpPr>
          <p:spPr>
            <a:xfrm>
              <a:off x="3836454" y="342129"/>
              <a:ext cx="1521687" cy="211661"/>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0" i="0" lang="en-US" sz="1038" u="none" cap="none" strike="noStrike">
                  <a:solidFill>
                    <a:srgbClr val="000000"/>
                  </a:solidFill>
                  <a:latin typeface="Open Sans"/>
                  <a:ea typeface="Open Sans"/>
                  <a:cs typeface="Open Sans"/>
                  <a:sym typeface="Open Sans"/>
                </a:rPr>
                <a:t>Enter Audit Details</a:t>
              </a:r>
              <a:endParaRPr/>
            </a:p>
          </p:txBody>
        </p:sp>
        <p:sp>
          <p:nvSpPr>
            <p:cNvPr id="104" name="Google Shape;104;p2"/>
            <p:cNvSpPr txBox="1"/>
            <p:nvPr/>
          </p:nvSpPr>
          <p:spPr>
            <a:xfrm>
              <a:off x="3092794" y="3332228"/>
              <a:ext cx="3162017" cy="629711"/>
            </a:xfrm>
            <a:prstGeom prst="rect">
              <a:avLst/>
            </a:prstGeom>
            <a:noFill/>
            <a:ln>
              <a:noFill/>
            </a:ln>
          </p:spPr>
          <p:txBody>
            <a:bodyPr anchorCtr="0" anchor="t" bIns="0" lIns="0" spcFirstLastPara="1" rIns="0" wrap="square" tIns="0">
              <a:spAutoFit/>
            </a:bodyPr>
            <a:lstStyle/>
            <a:p>
              <a:pPr indent="0" lvl="0" marL="0" marR="0" rtl="0" algn="ctr">
                <a:lnSpc>
                  <a:spcPct val="139935"/>
                </a:lnSpc>
                <a:spcBef>
                  <a:spcPts val="0"/>
                </a:spcBef>
                <a:spcAft>
                  <a:spcPts val="0"/>
                </a:spcAft>
                <a:buNone/>
              </a:pPr>
              <a:r>
                <a:rPr b="0" i="0" lang="en-US" sz="934" u="none" cap="none" strike="noStrike">
                  <a:solidFill>
                    <a:srgbClr val="000000"/>
                  </a:solidFill>
                  <a:latin typeface="Open Sans"/>
                  <a:ea typeface="Open Sans"/>
                  <a:cs typeface="Open Sans"/>
                  <a:sym typeface="Open Sans"/>
                </a:rPr>
                <a:t>Fill in all required information accurately.</a:t>
              </a:r>
              <a:endParaRPr/>
            </a:p>
            <a:p>
              <a:pPr indent="0" lvl="0" marL="0" marR="0" rtl="0" algn="ctr">
                <a:lnSpc>
                  <a:spcPct val="139935"/>
                </a:lnSpc>
                <a:spcBef>
                  <a:spcPts val="0"/>
                </a:spcBef>
                <a:spcAft>
                  <a:spcPts val="0"/>
                </a:spcAft>
                <a:buNone/>
              </a:pPr>
              <a:r>
                <a:rPr b="0" i="0" lang="en-US" sz="934" u="none" cap="none" strike="noStrike">
                  <a:solidFill>
                    <a:srgbClr val="000000"/>
                  </a:solidFill>
                  <a:latin typeface="Open Sans"/>
                  <a:ea typeface="Open Sans"/>
                  <a:cs typeface="Open Sans"/>
                  <a:sym typeface="Open Sans"/>
                </a:rPr>
                <a:t>Ensure the correct staff email of the person conducting the audit is entered.</a:t>
              </a:r>
              <a:endParaRPr/>
            </a:p>
          </p:txBody>
        </p:sp>
        <p:sp>
          <p:nvSpPr>
            <p:cNvPr id="105" name="Google Shape;105;p2"/>
            <p:cNvSpPr/>
            <p:nvPr/>
          </p:nvSpPr>
          <p:spPr>
            <a:xfrm>
              <a:off x="6455662" y="738050"/>
              <a:ext cx="3199794" cy="1916155"/>
            </a:xfrm>
            <a:custGeom>
              <a:rect b="b" l="l" r="r" t="t"/>
              <a:pathLst>
                <a:path extrusionOk="0" h="1916155" w="3199794">
                  <a:moveTo>
                    <a:pt x="0" y="0"/>
                  </a:moveTo>
                  <a:lnTo>
                    <a:pt x="3199794" y="0"/>
                  </a:lnTo>
                  <a:lnTo>
                    <a:pt x="3199794" y="1916154"/>
                  </a:lnTo>
                  <a:lnTo>
                    <a:pt x="0" y="1916154"/>
                  </a:lnTo>
                  <a:lnTo>
                    <a:pt x="0" y="0"/>
                  </a:lnTo>
                  <a:close/>
                </a:path>
              </a:pathLst>
            </a:custGeom>
            <a:blipFill rotWithShape="1">
              <a:blip r:embed="rId7">
                <a:alphaModFix/>
              </a:blip>
              <a:stretch>
                <a:fillRect b="-138010" l="0" r="-22218" t="0"/>
              </a:stretch>
            </a:blipFill>
            <a:ln>
              <a:noFill/>
            </a:ln>
          </p:spPr>
        </p:sp>
        <p:sp>
          <p:nvSpPr>
            <p:cNvPr id="106" name="Google Shape;106;p2"/>
            <p:cNvSpPr txBox="1"/>
            <p:nvPr/>
          </p:nvSpPr>
          <p:spPr>
            <a:xfrm>
              <a:off x="7773372" y="-28575"/>
              <a:ext cx="663878" cy="27641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245" u="none" cap="none" strike="noStrike">
                  <a:solidFill>
                    <a:srgbClr val="EC1D26"/>
                  </a:solidFill>
                  <a:latin typeface="Open Sans"/>
                  <a:ea typeface="Open Sans"/>
                  <a:cs typeface="Open Sans"/>
                  <a:sym typeface="Open Sans"/>
                </a:rPr>
                <a:t>STEP 3</a:t>
              </a:r>
              <a:endParaRPr/>
            </a:p>
          </p:txBody>
        </p:sp>
        <p:sp>
          <p:nvSpPr>
            <p:cNvPr id="107" name="Google Shape;107;p2"/>
            <p:cNvSpPr txBox="1"/>
            <p:nvPr/>
          </p:nvSpPr>
          <p:spPr>
            <a:xfrm>
              <a:off x="7083129" y="342129"/>
              <a:ext cx="2044365" cy="211661"/>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0" i="0" lang="en-US" sz="1038" u="none" cap="none" strike="noStrike">
                  <a:solidFill>
                    <a:srgbClr val="000000"/>
                  </a:solidFill>
                  <a:latin typeface="Open Sans"/>
                  <a:ea typeface="Open Sans"/>
                  <a:cs typeface="Open Sans"/>
                  <a:sym typeface="Open Sans"/>
                </a:rPr>
                <a:t>Complete Audit Checklist</a:t>
              </a:r>
              <a:endParaRPr/>
            </a:p>
          </p:txBody>
        </p:sp>
        <p:sp>
          <p:nvSpPr>
            <p:cNvPr id="108" name="Google Shape;108;p2"/>
            <p:cNvSpPr txBox="1"/>
            <p:nvPr/>
          </p:nvSpPr>
          <p:spPr>
            <a:xfrm>
              <a:off x="6634141" y="3332228"/>
              <a:ext cx="3162017" cy="840636"/>
            </a:xfrm>
            <a:prstGeom prst="rect">
              <a:avLst/>
            </a:prstGeom>
            <a:noFill/>
            <a:ln>
              <a:noFill/>
            </a:ln>
          </p:spPr>
          <p:txBody>
            <a:bodyPr anchorCtr="0" anchor="t" bIns="0" lIns="0" spcFirstLastPara="1" rIns="0" wrap="square" tIns="0">
              <a:spAutoFit/>
            </a:bodyPr>
            <a:lstStyle/>
            <a:p>
              <a:pPr indent="0" lvl="0" marL="0" marR="0" rtl="0" algn="ctr">
                <a:lnSpc>
                  <a:spcPct val="139935"/>
                </a:lnSpc>
                <a:spcBef>
                  <a:spcPts val="0"/>
                </a:spcBef>
                <a:spcAft>
                  <a:spcPts val="0"/>
                </a:spcAft>
                <a:buNone/>
              </a:pPr>
              <a:r>
                <a:rPr b="0" i="0" lang="en-US" sz="934" u="none" cap="none" strike="noStrike">
                  <a:solidFill>
                    <a:srgbClr val="000000"/>
                  </a:solidFill>
                  <a:latin typeface="Open Sans"/>
                  <a:ea typeface="Open Sans"/>
                  <a:cs typeface="Open Sans"/>
                  <a:sym typeface="Open Sans"/>
                </a:rPr>
                <a:t>For each question, select Yes or No.</a:t>
              </a:r>
              <a:endParaRPr/>
            </a:p>
            <a:p>
              <a:pPr indent="0" lvl="0" marL="0" marR="0" rtl="0" algn="ctr">
                <a:lnSpc>
                  <a:spcPct val="139935"/>
                </a:lnSpc>
                <a:spcBef>
                  <a:spcPts val="0"/>
                </a:spcBef>
                <a:spcAft>
                  <a:spcPts val="0"/>
                </a:spcAft>
                <a:buNone/>
              </a:pPr>
              <a:r>
                <a:rPr b="0" i="0" lang="en-US" sz="934" u="none" cap="none" strike="noStrike">
                  <a:solidFill>
                    <a:srgbClr val="000000"/>
                  </a:solidFill>
                  <a:latin typeface="Open Sans"/>
                  <a:ea typeface="Open Sans"/>
                  <a:cs typeface="Open Sans"/>
                  <a:sym typeface="Open Sans"/>
                </a:rPr>
                <a:t>Add notes or remarks where necessary.</a:t>
              </a:r>
              <a:endParaRPr/>
            </a:p>
            <a:p>
              <a:pPr indent="0" lvl="0" marL="0" marR="0" rtl="0" algn="ctr">
                <a:lnSpc>
                  <a:spcPct val="139935"/>
                </a:lnSpc>
                <a:spcBef>
                  <a:spcPts val="0"/>
                </a:spcBef>
                <a:spcAft>
                  <a:spcPts val="0"/>
                </a:spcAft>
                <a:buNone/>
              </a:pPr>
              <a:r>
                <a:rPr b="0" i="0" lang="en-US" sz="934" u="none" cap="none" strike="noStrike">
                  <a:solidFill>
                    <a:srgbClr val="000000"/>
                  </a:solidFill>
                  <a:latin typeface="Open Sans"/>
                  <a:ea typeface="Open Sans"/>
                  <a:cs typeface="Open Sans"/>
                  <a:sym typeface="Open Sans"/>
                </a:rPr>
                <a:t>Attach supporting photos or documents where relevant.</a:t>
              </a:r>
              <a:endParaRPr/>
            </a:p>
          </p:txBody>
        </p:sp>
        <p:sp>
          <p:nvSpPr>
            <p:cNvPr id="109" name="Google Shape;109;p2"/>
            <p:cNvSpPr/>
            <p:nvPr/>
          </p:nvSpPr>
          <p:spPr>
            <a:xfrm>
              <a:off x="6966752" y="2654204"/>
              <a:ext cx="2496794" cy="571674"/>
            </a:xfrm>
            <a:custGeom>
              <a:rect b="b" l="l" r="r" t="t"/>
              <a:pathLst>
                <a:path extrusionOk="0" h="571674" w="2496794">
                  <a:moveTo>
                    <a:pt x="0" y="0"/>
                  </a:moveTo>
                  <a:lnTo>
                    <a:pt x="2496794" y="0"/>
                  </a:lnTo>
                  <a:lnTo>
                    <a:pt x="2496794" y="571674"/>
                  </a:lnTo>
                  <a:lnTo>
                    <a:pt x="0" y="571674"/>
                  </a:lnTo>
                  <a:lnTo>
                    <a:pt x="0" y="0"/>
                  </a:lnTo>
                  <a:close/>
                </a:path>
              </a:pathLst>
            </a:custGeom>
            <a:blipFill rotWithShape="1">
              <a:blip r:embed="rId7">
                <a:alphaModFix/>
              </a:blip>
              <a:stretch>
                <a:fillRect b="0" l="-2220" r="-20340" t="-524258"/>
              </a:stretch>
            </a:blipFill>
            <a:ln>
              <a:noFill/>
            </a:ln>
          </p:spPr>
        </p:sp>
        <p:sp>
          <p:nvSpPr>
            <p:cNvPr id="110" name="Google Shape;110;p2"/>
            <p:cNvSpPr txBox="1"/>
            <p:nvPr/>
          </p:nvSpPr>
          <p:spPr>
            <a:xfrm>
              <a:off x="848625" y="-28575"/>
              <a:ext cx="663878" cy="27641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245" u="none" cap="none" strike="noStrike">
                  <a:solidFill>
                    <a:srgbClr val="EC1D26"/>
                  </a:solidFill>
                  <a:latin typeface="Open Sans"/>
                  <a:ea typeface="Open Sans"/>
                  <a:cs typeface="Open Sans"/>
                  <a:sym typeface="Open Sans"/>
                </a:rPr>
                <a:t>STEP 1</a:t>
              </a:r>
              <a:endParaRPr/>
            </a:p>
          </p:txBody>
        </p:sp>
        <p:sp>
          <p:nvSpPr>
            <p:cNvPr id="111" name="Google Shape;111;p2"/>
            <p:cNvSpPr txBox="1"/>
            <p:nvPr/>
          </p:nvSpPr>
          <p:spPr>
            <a:xfrm>
              <a:off x="272804" y="342129"/>
              <a:ext cx="1815520" cy="211661"/>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b="0" i="0" lang="en-US" sz="1038" u="none" cap="none" strike="noStrike">
                  <a:solidFill>
                    <a:srgbClr val="000000"/>
                  </a:solidFill>
                  <a:latin typeface="Open Sans"/>
                  <a:ea typeface="Open Sans"/>
                  <a:cs typeface="Open Sans"/>
                  <a:sym typeface="Open Sans"/>
                </a:rPr>
                <a:t>Access the Audit Form</a:t>
              </a:r>
              <a:endParaRPr/>
            </a:p>
          </p:txBody>
        </p:sp>
        <p:sp>
          <p:nvSpPr>
            <p:cNvPr id="112" name="Google Shape;112;p2"/>
            <p:cNvSpPr txBox="1"/>
            <p:nvPr/>
          </p:nvSpPr>
          <p:spPr>
            <a:xfrm>
              <a:off x="0" y="3332228"/>
              <a:ext cx="2501454" cy="629711"/>
            </a:xfrm>
            <a:prstGeom prst="rect">
              <a:avLst/>
            </a:prstGeom>
            <a:noFill/>
            <a:ln>
              <a:noFill/>
            </a:ln>
          </p:spPr>
          <p:txBody>
            <a:bodyPr anchorCtr="0" anchor="t" bIns="0" lIns="0" spcFirstLastPara="1" rIns="0" wrap="square" tIns="0">
              <a:spAutoFit/>
            </a:bodyPr>
            <a:lstStyle/>
            <a:p>
              <a:pPr indent="0" lvl="0" marL="0" marR="0" rtl="0" algn="ctr">
                <a:lnSpc>
                  <a:spcPct val="139935"/>
                </a:lnSpc>
                <a:spcBef>
                  <a:spcPts val="0"/>
                </a:spcBef>
                <a:spcAft>
                  <a:spcPts val="0"/>
                </a:spcAft>
                <a:buNone/>
              </a:pPr>
              <a:r>
                <a:rPr b="0" i="0" lang="en-US" sz="934" u="none" cap="none" strike="noStrike">
                  <a:solidFill>
                    <a:srgbClr val="000000"/>
                  </a:solidFill>
                  <a:latin typeface="Open Sans"/>
                  <a:ea typeface="Open Sans"/>
                  <a:cs typeface="Open Sans"/>
                  <a:sym typeface="Open Sans"/>
                </a:rPr>
                <a:t>Click the official JotForm link https://form.jotform.com/252348875142462 or scan the QR Code </a:t>
              </a:r>
              <a:endParaRPr/>
            </a:p>
          </p:txBody>
        </p:sp>
      </p:grpSp>
      <p:sp>
        <p:nvSpPr>
          <p:cNvPr id="113" name="Google Shape;113;p2"/>
          <p:cNvSpPr/>
          <p:nvPr/>
        </p:nvSpPr>
        <p:spPr>
          <a:xfrm>
            <a:off x="523986" y="5761836"/>
            <a:ext cx="1090218" cy="305261"/>
          </a:xfrm>
          <a:custGeom>
            <a:rect b="b" l="l" r="r" t="t"/>
            <a:pathLst>
              <a:path extrusionOk="0" h="305261" w="1090218">
                <a:moveTo>
                  <a:pt x="0" y="0"/>
                </a:moveTo>
                <a:lnTo>
                  <a:pt x="1090218" y="0"/>
                </a:lnTo>
                <a:lnTo>
                  <a:pt x="1090218" y="305261"/>
                </a:lnTo>
                <a:lnTo>
                  <a:pt x="0" y="305261"/>
                </a:lnTo>
                <a:lnTo>
                  <a:pt x="0" y="0"/>
                </a:lnTo>
                <a:close/>
              </a:path>
            </a:pathLst>
          </a:custGeom>
          <a:blipFill rotWithShape="1">
            <a:blip r:embed="rId8">
              <a:alphaModFix/>
            </a:blip>
            <a:stretch>
              <a:fillRect b="0" l="0" r="0" t="0"/>
            </a:stretch>
          </a:blipFill>
          <a:ln>
            <a:noFill/>
          </a:ln>
        </p:spPr>
      </p:sp>
      <p:sp>
        <p:nvSpPr>
          <p:cNvPr id="114" name="Google Shape;114;p2"/>
          <p:cNvSpPr/>
          <p:nvPr/>
        </p:nvSpPr>
        <p:spPr>
          <a:xfrm>
            <a:off x="257704" y="6067097"/>
            <a:ext cx="1709247" cy="1343274"/>
          </a:xfrm>
          <a:custGeom>
            <a:rect b="b" l="l" r="r" t="t"/>
            <a:pathLst>
              <a:path extrusionOk="0" h="1343274" w="1709247">
                <a:moveTo>
                  <a:pt x="0" y="0"/>
                </a:moveTo>
                <a:lnTo>
                  <a:pt x="1709246" y="0"/>
                </a:lnTo>
                <a:lnTo>
                  <a:pt x="1709246" y="1343273"/>
                </a:lnTo>
                <a:lnTo>
                  <a:pt x="0" y="1343273"/>
                </a:lnTo>
                <a:lnTo>
                  <a:pt x="0" y="0"/>
                </a:lnTo>
                <a:close/>
              </a:path>
            </a:pathLst>
          </a:custGeom>
          <a:blipFill rotWithShape="1">
            <a:blip r:embed="rId9">
              <a:alphaModFix/>
            </a:blip>
            <a:stretch>
              <a:fillRect b="-217649" l="-19311" r="-17436" t="-59083"/>
            </a:stretch>
          </a:blipFill>
          <a:ln>
            <a:noFill/>
          </a:ln>
        </p:spPr>
      </p:sp>
      <p:sp>
        <p:nvSpPr>
          <p:cNvPr id="115" name="Google Shape;115;p2"/>
          <p:cNvSpPr/>
          <p:nvPr/>
        </p:nvSpPr>
        <p:spPr>
          <a:xfrm>
            <a:off x="5716897" y="5841584"/>
            <a:ext cx="1504074" cy="1568786"/>
          </a:xfrm>
          <a:custGeom>
            <a:rect b="b" l="l" r="r" t="t"/>
            <a:pathLst>
              <a:path extrusionOk="0" h="1568786" w="1504074">
                <a:moveTo>
                  <a:pt x="0" y="0"/>
                </a:moveTo>
                <a:lnTo>
                  <a:pt x="1504074" y="0"/>
                </a:lnTo>
                <a:lnTo>
                  <a:pt x="1504074" y="1568786"/>
                </a:lnTo>
                <a:lnTo>
                  <a:pt x="0" y="1568786"/>
                </a:lnTo>
                <a:lnTo>
                  <a:pt x="0" y="0"/>
                </a:lnTo>
                <a:close/>
              </a:path>
            </a:pathLst>
          </a:custGeom>
          <a:blipFill rotWithShape="1">
            <a:blip r:embed="rId10">
              <a:alphaModFix/>
            </a:blip>
            <a:stretch>
              <a:fillRect b="0" l="0" r="0" t="0"/>
            </a:stretch>
          </a:blipFill>
          <a:ln>
            <a:noFill/>
          </a:ln>
        </p:spPr>
      </p:sp>
      <p:sp>
        <p:nvSpPr>
          <p:cNvPr id="116" name="Google Shape;116;p2"/>
          <p:cNvSpPr/>
          <p:nvPr/>
        </p:nvSpPr>
        <p:spPr>
          <a:xfrm>
            <a:off x="2852453" y="5761836"/>
            <a:ext cx="1610172" cy="1691680"/>
          </a:xfrm>
          <a:custGeom>
            <a:rect b="b" l="l" r="r" t="t"/>
            <a:pathLst>
              <a:path extrusionOk="0" h="1691680" w="1610172">
                <a:moveTo>
                  <a:pt x="0" y="0"/>
                </a:moveTo>
                <a:lnTo>
                  <a:pt x="1610171" y="0"/>
                </a:lnTo>
                <a:lnTo>
                  <a:pt x="1610171" y="1691680"/>
                </a:lnTo>
                <a:lnTo>
                  <a:pt x="0" y="1691680"/>
                </a:lnTo>
                <a:lnTo>
                  <a:pt x="0" y="0"/>
                </a:lnTo>
                <a:close/>
              </a:path>
            </a:pathLst>
          </a:custGeom>
          <a:blipFill rotWithShape="1">
            <a:blip r:embed="rId11">
              <a:alphaModFix/>
            </a:blip>
            <a:stretch>
              <a:fillRect b="-82407" l="-13380" r="-12399" t="-76793"/>
            </a:stretch>
          </a:blipFill>
          <a:ln>
            <a:noFill/>
          </a:ln>
        </p:spPr>
      </p:sp>
      <p:sp>
        <p:nvSpPr>
          <p:cNvPr id="117" name="Google Shape;117;p2"/>
          <p:cNvSpPr txBox="1"/>
          <p:nvPr/>
        </p:nvSpPr>
        <p:spPr>
          <a:xfrm>
            <a:off x="214841" y="1331363"/>
            <a:ext cx="7130318" cy="428625"/>
          </a:xfrm>
          <a:prstGeom prst="rect">
            <a:avLst/>
          </a:prstGeom>
          <a:noFill/>
          <a:ln>
            <a:noFill/>
          </a:ln>
        </p:spPr>
        <p:txBody>
          <a:bodyPr anchorCtr="0" anchor="t" bIns="0" lIns="0" spcFirstLastPara="1" rIns="0" wrap="square" tIns="0">
            <a:spAutoFit/>
          </a:bodyPr>
          <a:lstStyle/>
          <a:p>
            <a:pPr indent="0" lvl="0" marL="0" marR="0" rtl="0" algn="ctr">
              <a:lnSpc>
                <a:spcPct val="120058"/>
              </a:lnSpc>
              <a:spcBef>
                <a:spcPts val="0"/>
              </a:spcBef>
              <a:spcAft>
                <a:spcPts val="0"/>
              </a:spcAft>
              <a:buNone/>
            </a:pPr>
            <a:r>
              <a:rPr b="1" i="0" lang="en-US" sz="1720" u="none" cap="none" strike="noStrike">
                <a:solidFill>
                  <a:srgbClr val="000000"/>
                </a:solidFill>
                <a:latin typeface="Montserrat"/>
                <a:ea typeface="Montserrat"/>
                <a:cs typeface="Montserrat"/>
                <a:sym typeface="Montserrat"/>
              </a:rPr>
              <a:t>QUARTERLY FRANCHISE COMPLIANCE HEALTH CHECK</a:t>
            </a:r>
            <a:endParaRPr/>
          </a:p>
          <a:p>
            <a:pPr indent="0" lvl="0" marL="0" marR="0" rtl="0" algn="ctr">
              <a:lnSpc>
                <a:spcPct val="120017"/>
              </a:lnSpc>
              <a:spcBef>
                <a:spcPts val="0"/>
              </a:spcBef>
              <a:spcAft>
                <a:spcPts val="0"/>
              </a:spcAft>
              <a:buNone/>
            </a:pPr>
            <a:r>
              <a:rPr b="0" i="0" lang="en-US" sz="1149" u="none" cap="none" strike="noStrike">
                <a:solidFill>
                  <a:srgbClr val="EC1B24"/>
                </a:solidFill>
                <a:latin typeface="Montserrat"/>
                <a:ea typeface="Montserrat"/>
                <a:cs typeface="Montserrat"/>
                <a:sym typeface="Montserrat"/>
              </a:rPr>
              <a:t>MAINTAINING OPERATIONAL STANDARDS AND SUPPORTING FRANCHISEE SUCCESS</a:t>
            </a:r>
            <a:endParaRPr/>
          </a:p>
        </p:txBody>
      </p:sp>
      <p:sp>
        <p:nvSpPr>
          <p:cNvPr id="118" name="Google Shape;118;p2"/>
          <p:cNvSpPr txBox="1"/>
          <p:nvPr/>
        </p:nvSpPr>
        <p:spPr>
          <a:xfrm>
            <a:off x="6144405" y="5234750"/>
            <a:ext cx="502008" cy="215983"/>
          </a:xfrm>
          <a:prstGeom prst="rect">
            <a:avLst/>
          </a:prstGeom>
          <a:noFill/>
          <a:ln>
            <a:noFill/>
          </a:ln>
        </p:spPr>
        <p:txBody>
          <a:bodyPr anchorCtr="0" anchor="t" bIns="0" lIns="0" spcFirstLastPara="1" rIns="0" wrap="square" tIns="0">
            <a:spAutoFit/>
          </a:bodyPr>
          <a:lstStyle/>
          <a:p>
            <a:pPr indent="0" lvl="0" marL="0" marR="0" rtl="0" algn="ctr">
              <a:lnSpc>
                <a:spcPct val="140079"/>
              </a:lnSpc>
              <a:spcBef>
                <a:spcPts val="0"/>
              </a:spcBef>
              <a:spcAft>
                <a:spcPts val="0"/>
              </a:spcAft>
              <a:buNone/>
            </a:pPr>
            <a:r>
              <a:rPr b="1" i="0" lang="en-US" sz="1255" u="none" cap="none" strike="noStrike">
                <a:solidFill>
                  <a:srgbClr val="EC1D26"/>
                </a:solidFill>
                <a:latin typeface="Open Sans"/>
                <a:ea typeface="Open Sans"/>
                <a:cs typeface="Open Sans"/>
                <a:sym typeface="Open Sans"/>
              </a:rPr>
              <a:t>STEP 6</a:t>
            </a:r>
            <a:endParaRPr/>
          </a:p>
        </p:txBody>
      </p:sp>
      <p:sp>
        <p:nvSpPr>
          <p:cNvPr id="119" name="Google Shape;119;p2"/>
          <p:cNvSpPr txBox="1"/>
          <p:nvPr/>
        </p:nvSpPr>
        <p:spPr>
          <a:xfrm>
            <a:off x="5358931" y="5519712"/>
            <a:ext cx="2072955" cy="162376"/>
          </a:xfrm>
          <a:prstGeom prst="rect">
            <a:avLst/>
          </a:prstGeom>
          <a:noFill/>
          <a:ln>
            <a:noFill/>
          </a:ln>
        </p:spPr>
        <p:txBody>
          <a:bodyPr anchorCtr="0" anchor="t" bIns="0" lIns="0" spcFirstLastPara="1" rIns="0" wrap="square" tIns="0">
            <a:spAutoFit/>
          </a:bodyPr>
          <a:lstStyle/>
          <a:p>
            <a:pPr indent="0" lvl="0" marL="0" marR="0" rtl="0" algn="ctr">
              <a:lnSpc>
                <a:spcPct val="140057"/>
              </a:lnSpc>
              <a:spcBef>
                <a:spcPts val="0"/>
              </a:spcBef>
              <a:spcAft>
                <a:spcPts val="0"/>
              </a:spcAft>
              <a:buNone/>
            </a:pPr>
            <a:r>
              <a:rPr b="0" i="0" lang="en-US" sz="1046" u="none" cap="none" strike="noStrike">
                <a:solidFill>
                  <a:srgbClr val="000000"/>
                </a:solidFill>
                <a:latin typeface="Open Sans"/>
                <a:ea typeface="Open Sans"/>
                <a:cs typeface="Open Sans"/>
                <a:sym typeface="Open Sans"/>
              </a:rPr>
              <a:t>Share with Franchisee / Operator</a:t>
            </a:r>
            <a:endParaRPr/>
          </a:p>
        </p:txBody>
      </p:sp>
      <p:sp>
        <p:nvSpPr>
          <p:cNvPr id="120" name="Google Shape;120;p2"/>
          <p:cNvSpPr txBox="1"/>
          <p:nvPr/>
        </p:nvSpPr>
        <p:spPr>
          <a:xfrm>
            <a:off x="5396585" y="7519080"/>
            <a:ext cx="1997647" cy="633110"/>
          </a:xfrm>
          <a:prstGeom prst="rect">
            <a:avLst/>
          </a:prstGeom>
          <a:noFill/>
          <a:ln>
            <a:noFill/>
          </a:ln>
        </p:spPr>
        <p:txBody>
          <a:bodyPr anchorCtr="0" anchor="t" bIns="0" lIns="0" spcFirstLastPara="1" rIns="0" wrap="square" tIns="0">
            <a:spAutoFit/>
          </a:bodyPr>
          <a:lstStyle/>
          <a:p>
            <a:pPr indent="0" lvl="0" marL="0" marR="0" rtl="0" algn="ctr">
              <a:lnSpc>
                <a:spcPct val="140063"/>
              </a:lnSpc>
              <a:spcBef>
                <a:spcPts val="0"/>
              </a:spcBef>
              <a:spcAft>
                <a:spcPts val="0"/>
              </a:spcAft>
              <a:buNone/>
            </a:pPr>
            <a:r>
              <a:rPr b="0" i="0" lang="en-US" sz="941" u="none" cap="none" strike="noStrike">
                <a:solidFill>
                  <a:srgbClr val="000000"/>
                </a:solidFill>
                <a:latin typeface="Open Sans"/>
                <a:ea typeface="Open Sans"/>
                <a:cs typeface="Open Sans"/>
                <a:sym typeface="Open Sans"/>
              </a:rPr>
              <a:t>The auditor may forward the audit summary email to the relevant franchisee or club operator for their records.</a:t>
            </a:r>
            <a:endParaRPr/>
          </a:p>
        </p:txBody>
      </p:sp>
      <p:sp>
        <p:nvSpPr>
          <p:cNvPr id="121" name="Google Shape;121;p2"/>
          <p:cNvSpPr txBox="1"/>
          <p:nvPr/>
        </p:nvSpPr>
        <p:spPr>
          <a:xfrm>
            <a:off x="3406535" y="5234750"/>
            <a:ext cx="502008" cy="215983"/>
          </a:xfrm>
          <a:prstGeom prst="rect">
            <a:avLst/>
          </a:prstGeom>
          <a:noFill/>
          <a:ln>
            <a:noFill/>
          </a:ln>
        </p:spPr>
        <p:txBody>
          <a:bodyPr anchorCtr="0" anchor="t" bIns="0" lIns="0" spcFirstLastPara="1" rIns="0" wrap="square" tIns="0">
            <a:spAutoFit/>
          </a:bodyPr>
          <a:lstStyle/>
          <a:p>
            <a:pPr indent="0" lvl="0" marL="0" marR="0" rtl="0" algn="ctr">
              <a:lnSpc>
                <a:spcPct val="140079"/>
              </a:lnSpc>
              <a:spcBef>
                <a:spcPts val="0"/>
              </a:spcBef>
              <a:spcAft>
                <a:spcPts val="0"/>
              </a:spcAft>
              <a:buNone/>
            </a:pPr>
            <a:r>
              <a:rPr b="1" i="0" lang="en-US" sz="1255" u="none" cap="none" strike="noStrike">
                <a:solidFill>
                  <a:srgbClr val="EC1D26"/>
                </a:solidFill>
                <a:latin typeface="Open Sans"/>
                <a:ea typeface="Open Sans"/>
                <a:cs typeface="Open Sans"/>
                <a:sym typeface="Open Sans"/>
              </a:rPr>
              <a:t>STEP 5</a:t>
            </a:r>
            <a:endParaRPr/>
          </a:p>
        </p:txBody>
      </p:sp>
      <p:sp>
        <p:nvSpPr>
          <p:cNvPr id="122" name="Google Shape;122;p2"/>
          <p:cNvSpPr txBox="1"/>
          <p:nvPr/>
        </p:nvSpPr>
        <p:spPr>
          <a:xfrm>
            <a:off x="2901691" y="5519712"/>
            <a:ext cx="1511694" cy="162376"/>
          </a:xfrm>
          <a:prstGeom prst="rect">
            <a:avLst/>
          </a:prstGeom>
          <a:noFill/>
          <a:ln>
            <a:noFill/>
          </a:ln>
        </p:spPr>
        <p:txBody>
          <a:bodyPr anchorCtr="0" anchor="t" bIns="0" lIns="0" spcFirstLastPara="1" rIns="0" wrap="square" tIns="0">
            <a:spAutoFit/>
          </a:bodyPr>
          <a:lstStyle/>
          <a:p>
            <a:pPr indent="0" lvl="0" marL="0" marR="0" rtl="0" algn="ctr">
              <a:lnSpc>
                <a:spcPct val="140057"/>
              </a:lnSpc>
              <a:spcBef>
                <a:spcPts val="0"/>
              </a:spcBef>
              <a:spcAft>
                <a:spcPts val="0"/>
              </a:spcAft>
              <a:buNone/>
            </a:pPr>
            <a:r>
              <a:rPr b="0" i="0" lang="en-US" sz="1046" u="none" cap="none" strike="noStrike">
                <a:solidFill>
                  <a:srgbClr val="000000"/>
                </a:solidFill>
                <a:latin typeface="Open Sans"/>
                <a:ea typeface="Open Sans"/>
                <a:cs typeface="Open Sans"/>
                <a:sym typeface="Open Sans"/>
              </a:rPr>
              <a:t>Receive Audit Summary</a:t>
            </a:r>
            <a:endParaRPr/>
          </a:p>
        </p:txBody>
      </p:sp>
      <p:sp>
        <p:nvSpPr>
          <p:cNvPr id="123" name="Google Shape;123;p2"/>
          <p:cNvSpPr txBox="1"/>
          <p:nvPr/>
        </p:nvSpPr>
        <p:spPr>
          <a:xfrm>
            <a:off x="2658715" y="7507118"/>
            <a:ext cx="2219548" cy="952102"/>
          </a:xfrm>
          <a:prstGeom prst="rect">
            <a:avLst/>
          </a:prstGeom>
          <a:noFill/>
          <a:ln>
            <a:noFill/>
          </a:ln>
        </p:spPr>
        <p:txBody>
          <a:bodyPr anchorCtr="0" anchor="t" bIns="0" lIns="0" spcFirstLastPara="1" rIns="0" wrap="square" tIns="0">
            <a:spAutoFit/>
          </a:bodyPr>
          <a:lstStyle/>
          <a:p>
            <a:pPr indent="0" lvl="0" marL="0" marR="0" rtl="0" algn="ctr">
              <a:lnSpc>
                <a:spcPct val="140063"/>
              </a:lnSpc>
              <a:spcBef>
                <a:spcPts val="0"/>
              </a:spcBef>
              <a:spcAft>
                <a:spcPts val="0"/>
              </a:spcAft>
              <a:buNone/>
            </a:pPr>
            <a:r>
              <a:rPr b="0" i="0" lang="en-US" sz="941" u="none" cap="none" strike="noStrike">
                <a:solidFill>
                  <a:srgbClr val="000000"/>
                </a:solidFill>
                <a:latin typeface="Open Sans"/>
                <a:ea typeface="Open Sans"/>
                <a:cs typeface="Open Sans"/>
                <a:sym typeface="Open Sans"/>
              </a:rPr>
              <a:t>The staff who initiated the audit will automatically receive a copy of the completed audit summary via email.</a:t>
            </a:r>
            <a:endParaRPr/>
          </a:p>
          <a:p>
            <a:pPr indent="0" lvl="0" marL="0" marR="0" rtl="0" algn="ctr">
              <a:lnSpc>
                <a:spcPct val="140063"/>
              </a:lnSpc>
              <a:spcBef>
                <a:spcPts val="0"/>
              </a:spcBef>
              <a:spcAft>
                <a:spcPts val="0"/>
              </a:spcAft>
              <a:buNone/>
            </a:pPr>
            <a:r>
              <a:rPr b="0" i="0" lang="en-US" sz="941" u="none" cap="none" strike="noStrike">
                <a:solidFill>
                  <a:srgbClr val="000000"/>
                </a:solidFill>
                <a:latin typeface="Open Sans"/>
                <a:ea typeface="Open Sans"/>
                <a:cs typeface="Open Sans"/>
                <a:sym typeface="Open Sans"/>
              </a:rPr>
              <a:t>The Master Franchisee will also receive a copy of each submitted form.</a:t>
            </a:r>
            <a:endParaRPr/>
          </a:p>
          <a:p>
            <a:pPr indent="0" lvl="0" marL="0" marR="0" rtl="0" algn="ctr">
              <a:lnSpc>
                <a:spcPct val="140063"/>
              </a:lnSpc>
              <a:spcBef>
                <a:spcPts val="0"/>
              </a:spcBef>
              <a:spcAft>
                <a:spcPts val="0"/>
              </a:spcAft>
              <a:buNone/>
            </a:pPr>
            <a:r>
              <a:t/>
            </a:r>
            <a:endParaRPr b="0" i="0" sz="941" u="none" cap="none" strike="noStrike">
              <a:solidFill>
                <a:srgbClr val="000000"/>
              </a:solidFill>
              <a:latin typeface="Open Sans"/>
              <a:ea typeface="Open Sans"/>
              <a:cs typeface="Open Sans"/>
              <a:sym typeface="Open Sans"/>
            </a:endParaRPr>
          </a:p>
        </p:txBody>
      </p:sp>
      <p:sp>
        <p:nvSpPr>
          <p:cNvPr id="124" name="Google Shape;124;p2"/>
          <p:cNvSpPr txBox="1"/>
          <p:nvPr/>
        </p:nvSpPr>
        <p:spPr>
          <a:xfrm>
            <a:off x="871146" y="5234750"/>
            <a:ext cx="502008" cy="215983"/>
          </a:xfrm>
          <a:prstGeom prst="rect">
            <a:avLst/>
          </a:prstGeom>
          <a:noFill/>
          <a:ln>
            <a:noFill/>
          </a:ln>
        </p:spPr>
        <p:txBody>
          <a:bodyPr anchorCtr="0" anchor="t" bIns="0" lIns="0" spcFirstLastPara="1" rIns="0" wrap="square" tIns="0">
            <a:spAutoFit/>
          </a:bodyPr>
          <a:lstStyle/>
          <a:p>
            <a:pPr indent="0" lvl="0" marL="0" marR="0" rtl="0" algn="ctr">
              <a:lnSpc>
                <a:spcPct val="140079"/>
              </a:lnSpc>
              <a:spcBef>
                <a:spcPts val="0"/>
              </a:spcBef>
              <a:spcAft>
                <a:spcPts val="0"/>
              </a:spcAft>
              <a:buNone/>
            </a:pPr>
            <a:r>
              <a:rPr b="1" i="0" lang="en-US" sz="1255" u="none" cap="none" strike="noStrike">
                <a:solidFill>
                  <a:srgbClr val="EC1D26"/>
                </a:solidFill>
                <a:latin typeface="Open Sans"/>
                <a:ea typeface="Open Sans"/>
                <a:cs typeface="Open Sans"/>
                <a:sym typeface="Open Sans"/>
              </a:rPr>
              <a:t>STEP 4</a:t>
            </a:r>
            <a:endParaRPr/>
          </a:p>
        </p:txBody>
      </p:sp>
      <p:sp>
        <p:nvSpPr>
          <p:cNvPr id="125" name="Google Shape;125;p2"/>
          <p:cNvSpPr txBox="1"/>
          <p:nvPr/>
        </p:nvSpPr>
        <p:spPr>
          <a:xfrm>
            <a:off x="435725" y="5519712"/>
            <a:ext cx="1372850" cy="162376"/>
          </a:xfrm>
          <a:prstGeom prst="rect">
            <a:avLst/>
          </a:prstGeom>
          <a:noFill/>
          <a:ln>
            <a:noFill/>
          </a:ln>
        </p:spPr>
        <p:txBody>
          <a:bodyPr anchorCtr="0" anchor="t" bIns="0" lIns="0" spcFirstLastPara="1" rIns="0" wrap="square" tIns="0">
            <a:spAutoFit/>
          </a:bodyPr>
          <a:lstStyle/>
          <a:p>
            <a:pPr indent="0" lvl="0" marL="0" marR="0" rtl="0" algn="ctr">
              <a:lnSpc>
                <a:spcPct val="140057"/>
              </a:lnSpc>
              <a:spcBef>
                <a:spcPts val="0"/>
              </a:spcBef>
              <a:spcAft>
                <a:spcPts val="0"/>
              </a:spcAft>
              <a:buNone/>
            </a:pPr>
            <a:r>
              <a:rPr b="0" i="0" lang="en-US" sz="1046" u="none" cap="none" strike="noStrike">
                <a:solidFill>
                  <a:srgbClr val="000000"/>
                </a:solidFill>
                <a:latin typeface="Open Sans"/>
                <a:ea typeface="Open Sans"/>
                <a:cs typeface="Open Sans"/>
                <a:sym typeface="Open Sans"/>
              </a:rPr>
              <a:t>Review and Submit</a:t>
            </a:r>
            <a:endParaRPr/>
          </a:p>
        </p:txBody>
      </p:sp>
      <p:sp>
        <p:nvSpPr>
          <p:cNvPr id="126" name="Google Shape;126;p2"/>
          <p:cNvSpPr txBox="1"/>
          <p:nvPr/>
        </p:nvSpPr>
        <p:spPr>
          <a:xfrm>
            <a:off x="123326" y="7507118"/>
            <a:ext cx="2183897" cy="952102"/>
          </a:xfrm>
          <a:prstGeom prst="rect">
            <a:avLst/>
          </a:prstGeom>
          <a:noFill/>
          <a:ln>
            <a:noFill/>
          </a:ln>
        </p:spPr>
        <p:txBody>
          <a:bodyPr anchorCtr="0" anchor="t" bIns="0" lIns="0" spcFirstLastPara="1" rIns="0" wrap="square" tIns="0">
            <a:spAutoFit/>
          </a:bodyPr>
          <a:lstStyle/>
          <a:p>
            <a:pPr indent="0" lvl="0" marL="0" marR="0" rtl="0" algn="ctr">
              <a:lnSpc>
                <a:spcPct val="140063"/>
              </a:lnSpc>
              <a:spcBef>
                <a:spcPts val="0"/>
              </a:spcBef>
              <a:spcAft>
                <a:spcPts val="0"/>
              </a:spcAft>
              <a:buNone/>
            </a:pPr>
            <a:r>
              <a:rPr b="0" i="0" lang="en-US" sz="941" u="none" cap="none" strike="noStrike">
                <a:solidFill>
                  <a:srgbClr val="000000"/>
                </a:solidFill>
                <a:latin typeface="Open Sans"/>
                <a:ea typeface="Open Sans"/>
                <a:cs typeface="Open Sans"/>
                <a:sym typeface="Open Sans"/>
              </a:rPr>
              <a:t>Review all details before final submission. Click Submit.</a:t>
            </a:r>
            <a:endParaRPr/>
          </a:p>
          <a:p>
            <a:pPr indent="0" lvl="0" marL="0" marR="0" rtl="0" algn="ctr">
              <a:lnSpc>
                <a:spcPct val="140063"/>
              </a:lnSpc>
              <a:spcBef>
                <a:spcPts val="0"/>
              </a:spcBef>
              <a:spcAft>
                <a:spcPts val="0"/>
              </a:spcAft>
              <a:buNone/>
            </a:pPr>
            <a:r>
              <a:rPr b="0" i="0" lang="en-US" sz="941" u="none" cap="none" strike="noStrike">
                <a:solidFill>
                  <a:srgbClr val="000000"/>
                </a:solidFill>
                <a:latin typeface="Open Sans"/>
                <a:ea typeface="Open Sans"/>
                <a:cs typeface="Open Sans"/>
                <a:sym typeface="Open Sans"/>
              </a:rPr>
              <a:t>A </a:t>
            </a:r>
            <a:r>
              <a:rPr b="1" i="1" lang="en-US" sz="941" u="none" cap="none" strike="noStrike">
                <a:solidFill>
                  <a:srgbClr val="000000"/>
                </a:solidFill>
                <a:latin typeface="Open Sans"/>
                <a:ea typeface="Open Sans"/>
                <a:cs typeface="Open Sans"/>
                <a:sym typeface="Open Sans"/>
              </a:rPr>
              <a:t>“Thank You”</a:t>
            </a:r>
            <a:r>
              <a:rPr b="0" i="0" lang="en-US" sz="941" u="none" cap="none" strike="noStrike">
                <a:solidFill>
                  <a:srgbClr val="000000"/>
                </a:solidFill>
                <a:latin typeface="Open Sans"/>
                <a:ea typeface="Open Sans"/>
                <a:cs typeface="Open Sans"/>
                <a:sym typeface="Open Sans"/>
              </a:rPr>
              <a:t> notification will appear once the audit is successfully completed.</a:t>
            </a:r>
            <a:endParaRPr/>
          </a:p>
          <a:p>
            <a:pPr indent="0" lvl="0" marL="0" marR="0" rtl="0" algn="ctr">
              <a:lnSpc>
                <a:spcPct val="140063"/>
              </a:lnSpc>
              <a:spcBef>
                <a:spcPts val="0"/>
              </a:spcBef>
              <a:spcAft>
                <a:spcPts val="0"/>
              </a:spcAft>
              <a:buNone/>
            </a:pPr>
            <a:r>
              <a:t/>
            </a:r>
            <a:endParaRPr b="0" i="0" sz="941" u="none" cap="none" strike="noStrike">
              <a:solidFill>
                <a:srgbClr val="000000"/>
              </a:solidFill>
              <a:latin typeface="Open Sans"/>
              <a:ea typeface="Open Sans"/>
              <a:cs typeface="Open Sans"/>
              <a:sym typeface="Open Sans"/>
            </a:endParaRPr>
          </a:p>
        </p:txBody>
      </p:sp>
      <p:grpSp>
        <p:nvGrpSpPr>
          <p:cNvPr id="127" name="Google Shape;127;p2"/>
          <p:cNvGrpSpPr/>
          <p:nvPr/>
        </p:nvGrpSpPr>
        <p:grpSpPr>
          <a:xfrm>
            <a:off x="432417" y="8532188"/>
            <a:ext cx="6695167" cy="735215"/>
            <a:chOff x="0" y="-19050"/>
            <a:chExt cx="8926888" cy="980288"/>
          </a:xfrm>
        </p:grpSpPr>
        <p:sp>
          <p:nvSpPr>
            <p:cNvPr id="128" name="Google Shape;128;p2"/>
            <p:cNvSpPr txBox="1"/>
            <p:nvPr/>
          </p:nvSpPr>
          <p:spPr>
            <a:xfrm>
              <a:off x="2130475" y="-19050"/>
              <a:ext cx="6796413" cy="980288"/>
            </a:xfrm>
            <a:prstGeom prst="rect">
              <a:avLst/>
            </a:prstGeom>
            <a:noFill/>
            <a:ln>
              <a:noFill/>
            </a:ln>
          </p:spPr>
          <p:txBody>
            <a:bodyPr anchorCtr="0" anchor="t" bIns="0" lIns="0" spcFirstLastPara="1" rIns="0" wrap="square" tIns="0">
              <a:spAutoFit/>
            </a:bodyPr>
            <a:lstStyle/>
            <a:p>
              <a:pPr indent="0" lvl="0" marL="0" marR="0" rtl="0" algn="l">
                <a:lnSpc>
                  <a:spcPct val="71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8088"/>
                </a:lnSpc>
                <a:spcBef>
                  <a:spcPts val="0"/>
                </a:spcBef>
                <a:spcAft>
                  <a:spcPts val="0"/>
                </a:spcAft>
                <a:buNone/>
              </a:pPr>
              <a:r>
                <a:rPr b="0" i="0" lang="en-US" sz="863" u="none" cap="none" strike="noStrike">
                  <a:solidFill>
                    <a:srgbClr val="000000"/>
                  </a:solidFill>
                  <a:latin typeface="Montserrat"/>
                  <a:ea typeface="Montserrat"/>
                  <a:cs typeface="Montserrat"/>
                  <a:sym typeface="Montserrat"/>
                </a:rPr>
                <a:t>The Master Franchisee will have access to an Excel summary of all audits via Google Sheets. </a:t>
              </a:r>
              <a:endParaRPr/>
            </a:p>
            <a:p>
              <a:pPr indent="0" lvl="0" marL="0" marR="0" rtl="0" algn="l">
                <a:lnSpc>
                  <a:spcPct val="147937"/>
                </a:lnSpc>
                <a:spcBef>
                  <a:spcPts val="0"/>
                </a:spcBef>
                <a:spcAft>
                  <a:spcPts val="0"/>
                </a:spcAft>
                <a:buNone/>
              </a:pPr>
              <a:r>
                <a:rPr b="0" i="0" lang="en-US" sz="703" u="none" cap="none" strike="noStrike">
                  <a:solidFill>
                    <a:srgbClr val="000000"/>
                  </a:solidFill>
                  <a:latin typeface="Montserrat"/>
                  <a:ea typeface="Montserrat"/>
                  <a:cs typeface="Montserrat"/>
                  <a:sym typeface="Montserrat"/>
                </a:rPr>
                <a:t>  https://docs.google.com/spreadsheets/d/1-Z-724SEbMttaTj5MBwLxcIORvEQUNPPQLh34vN25mQ/edit</a:t>
              </a:r>
              <a:endParaRPr/>
            </a:p>
            <a:p>
              <a:pPr indent="0" lvl="0" marL="0" marR="0" rtl="0" algn="l">
                <a:lnSpc>
                  <a:spcPct val="148088"/>
                </a:lnSpc>
                <a:spcBef>
                  <a:spcPts val="0"/>
                </a:spcBef>
                <a:spcAft>
                  <a:spcPts val="0"/>
                </a:spcAft>
                <a:buNone/>
              </a:pPr>
              <a:r>
                <a:rPr b="0" i="0" lang="en-US" sz="863" u="none" cap="none" strike="noStrike">
                  <a:solidFill>
                    <a:srgbClr val="000000"/>
                  </a:solidFill>
                  <a:latin typeface="Montserrat"/>
                  <a:ea typeface="Montserrat"/>
                  <a:cs typeface="Montserrat"/>
                  <a:sym typeface="Montserrat"/>
                </a:rPr>
                <a:t>A Quarterly PDF Consolidated Report will be generated and sent to the Master Franchisee for official record-keeping.</a:t>
              </a:r>
              <a:endParaRPr/>
            </a:p>
          </p:txBody>
        </p:sp>
        <p:sp>
          <p:nvSpPr>
            <p:cNvPr id="129" name="Google Shape;129;p2"/>
            <p:cNvSpPr txBox="1"/>
            <p:nvPr/>
          </p:nvSpPr>
          <p:spPr>
            <a:xfrm>
              <a:off x="554732" y="194815"/>
              <a:ext cx="639564" cy="257810"/>
            </a:xfrm>
            <a:prstGeom prst="rect">
              <a:avLst/>
            </a:prstGeom>
            <a:noFill/>
            <a:ln>
              <a:noFill/>
            </a:ln>
          </p:spPr>
          <p:txBody>
            <a:bodyPr anchorCtr="0" anchor="t" bIns="0" lIns="0" spcFirstLastPara="1" rIns="0" wrap="square" tIns="0">
              <a:spAutoFit/>
            </a:bodyPr>
            <a:lstStyle/>
            <a:p>
              <a:pPr indent="0" lvl="0" marL="0" marR="0" rtl="0" algn="ctr">
                <a:lnSpc>
                  <a:spcPct val="140033"/>
                </a:lnSpc>
                <a:spcBef>
                  <a:spcPts val="0"/>
                </a:spcBef>
                <a:spcAft>
                  <a:spcPts val="0"/>
                </a:spcAft>
                <a:buNone/>
              </a:pPr>
              <a:r>
                <a:rPr b="1" i="0" lang="en-US" sz="1199" u="none" cap="none" strike="noStrike">
                  <a:solidFill>
                    <a:srgbClr val="EC1D26"/>
                  </a:solidFill>
                  <a:latin typeface="Open Sans"/>
                  <a:ea typeface="Open Sans"/>
                  <a:cs typeface="Open Sans"/>
                  <a:sym typeface="Open Sans"/>
                </a:rPr>
                <a:t>STEP 7</a:t>
              </a:r>
              <a:endParaRPr/>
            </a:p>
          </p:txBody>
        </p:sp>
        <p:sp>
          <p:nvSpPr>
            <p:cNvPr id="130" name="Google Shape;130;p2"/>
            <p:cNvSpPr txBox="1"/>
            <p:nvPr/>
          </p:nvSpPr>
          <p:spPr>
            <a:xfrm>
              <a:off x="0" y="533590"/>
              <a:ext cx="1914128" cy="213783"/>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0" i="0" lang="en-US" sz="999" u="none" cap="none" strike="noStrike">
                  <a:solidFill>
                    <a:srgbClr val="000000"/>
                  </a:solidFill>
                  <a:latin typeface="Open Sans"/>
                  <a:ea typeface="Open Sans"/>
                  <a:cs typeface="Open Sans"/>
                  <a:sym typeface="Open Sans"/>
                </a:rPr>
                <a:t>Consolidated Reporting</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cxnSp>
        <p:nvCxnSpPr>
          <p:cNvPr id="135" name="Google Shape;135;p3"/>
          <p:cNvCxnSpPr/>
          <p:nvPr/>
        </p:nvCxnSpPr>
        <p:spPr>
          <a:xfrm>
            <a:off x="562145" y="9391317"/>
            <a:ext cx="1558596" cy="0"/>
          </a:xfrm>
          <a:prstGeom prst="straightConnector1">
            <a:avLst/>
          </a:prstGeom>
          <a:noFill/>
          <a:ln cap="flat" cmpd="sng" w="19050">
            <a:solidFill>
              <a:srgbClr val="000000"/>
            </a:solidFill>
            <a:prstDash val="solid"/>
            <a:round/>
            <a:headEnd len="sm" w="sm" type="none"/>
            <a:tailEnd len="sm" w="sm" type="none"/>
          </a:ln>
        </p:spPr>
      </p:cxnSp>
      <p:sp>
        <p:nvSpPr>
          <p:cNvPr id="136" name="Google Shape;136;p3"/>
          <p:cNvSpPr/>
          <p:nvPr/>
        </p:nvSpPr>
        <p:spPr>
          <a:xfrm>
            <a:off x="1799336" y="0"/>
            <a:ext cx="5756128" cy="2097369"/>
          </a:xfrm>
          <a:custGeom>
            <a:rect b="b" l="l" r="r" t="t"/>
            <a:pathLst>
              <a:path extrusionOk="0" h="2097369" w="5756128">
                <a:moveTo>
                  <a:pt x="0" y="0"/>
                </a:moveTo>
                <a:lnTo>
                  <a:pt x="5756128" y="0"/>
                </a:lnTo>
                <a:lnTo>
                  <a:pt x="5756128" y="2097369"/>
                </a:lnTo>
                <a:lnTo>
                  <a:pt x="0" y="2097369"/>
                </a:lnTo>
                <a:lnTo>
                  <a:pt x="0" y="0"/>
                </a:lnTo>
                <a:close/>
              </a:path>
            </a:pathLst>
          </a:custGeom>
          <a:blipFill rotWithShape="1">
            <a:blip r:embed="rId3">
              <a:alphaModFix/>
            </a:blip>
            <a:stretch>
              <a:fillRect b="0" l="-235" r="-8698" t="-22577"/>
            </a:stretch>
          </a:blipFill>
          <a:ln>
            <a:noFill/>
          </a:ln>
        </p:spPr>
      </p:sp>
      <p:sp>
        <p:nvSpPr>
          <p:cNvPr id="137" name="Google Shape;137;p3"/>
          <p:cNvSpPr/>
          <p:nvPr/>
        </p:nvSpPr>
        <p:spPr>
          <a:xfrm>
            <a:off x="7307" y="10022854"/>
            <a:ext cx="7548157" cy="687146"/>
          </a:xfrm>
          <a:custGeom>
            <a:rect b="b" l="l" r="r" t="t"/>
            <a:pathLst>
              <a:path extrusionOk="0" h="687146" w="7548157">
                <a:moveTo>
                  <a:pt x="0" y="0"/>
                </a:moveTo>
                <a:lnTo>
                  <a:pt x="7548157" y="0"/>
                </a:lnTo>
                <a:lnTo>
                  <a:pt x="7548157" y="687146"/>
                </a:lnTo>
                <a:lnTo>
                  <a:pt x="0" y="687146"/>
                </a:lnTo>
                <a:lnTo>
                  <a:pt x="0" y="0"/>
                </a:lnTo>
                <a:close/>
              </a:path>
            </a:pathLst>
          </a:custGeom>
          <a:blipFill rotWithShape="1">
            <a:blip r:embed="rId4">
              <a:alphaModFix/>
            </a:blip>
            <a:stretch>
              <a:fillRect b="-35094" l="-1428" r="0" t="0"/>
            </a:stretch>
          </a:blipFill>
          <a:ln>
            <a:noFill/>
          </a:ln>
        </p:spPr>
      </p:sp>
      <p:grpSp>
        <p:nvGrpSpPr>
          <p:cNvPr id="138" name="Google Shape;138;p3"/>
          <p:cNvGrpSpPr/>
          <p:nvPr/>
        </p:nvGrpSpPr>
        <p:grpSpPr>
          <a:xfrm>
            <a:off x="156708" y="438987"/>
            <a:ext cx="4703820" cy="746981"/>
            <a:chOff x="0" y="-47625"/>
            <a:chExt cx="6271761" cy="995974"/>
          </a:xfrm>
        </p:grpSpPr>
        <p:sp>
          <p:nvSpPr>
            <p:cNvPr id="139" name="Google Shape;139;p3"/>
            <p:cNvSpPr txBox="1"/>
            <p:nvPr/>
          </p:nvSpPr>
          <p:spPr>
            <a:xfrm>
              <a:off x="2509452" y="-47625"/>
              <a:ext cx="3762309" cy="568654"/>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2615" u="none" cap="none" strike="noStrike">
                  <a:solidFill>
                    <a:srgbClr val="EC1D26"/>
                  </a:solidFill>
                  <a:latin typeface="Montserrat"/>
                  <a:ea typeface="Montserrat"/>
                  <a:cs typeface="Montserrat"/>
                  <a:sym typeface="Montserrat"/>
                </a:rPr>
                <a:t>FRANCHISEE</a:t>
              </a:r>
              <a:endParaRPr/>
            </a:p>
          </p:txBody>
        </p:sp>
        <p:sp>
          <p:nvSpPr>
            <p:cNvPr id="140" name="Google Shape;140;p3"/>
            <p:cNvSpPr txBox="1"/>
            <p:nvPr/>
          </p:nvSpPr>
          <p:spPr>
            <a:xfrm>
              <a:off x="2509452" y="540814"/>
              <a:ext cx="3109252" cy="407535"/>
            </a:xfrm>
            <a:prstGeom prst="rect">
              <a:avLst/>
            </a:prstGeom>
            <a:noFill/>
            <a:ln>
              <a:noFill/>
            </a:ln>
          </p:spPr>
          <p:txBody>
            <a:bodyPr anchorCtr="0" anchor="t" bIns="0" lIns="0" spcFirstLastPara="1" rIns="0" wrap="square" tIns="0">
              <a:spAutoFit/>
            </a:bodyPr>
            <a:lstStyle/>
            <a:p>
              <a:pPr indent="0" lvl="0" marL="0" marR="0" rtl="0" algn="just">
                <a:lnSpc>
                  <a:spcPct val="140032"/>
                </a:lnSpc>
                <a:spcBef>
                  <a:spcPts val="0"/>
                </a:spcBef>
                <a:spcAft>
                  <a:spcPts val="0"/>
                </a:spcAft>
                <a:buNone/>
              </a:pPr>
              <a:r>
                <a:rPr b="1" i="0" lang="en-US" sz="1841" u="none" cap="none" strike="noStrike">
                  <a:solidFill>
                    <a:srgbClr val="000000"/>
                  </a:solidFill>
                  <a:latin typeface="Montserrat Medium"/>
                  <a:ea typeface="Montserrat Medium"/>
                  <a:cs typeface="Montserrat Medium"/>
                  <a:sym typeface="Montserrat Medium"/>
                </a:rPr>
                <a:t>Memorandum</a:t>
              </a:r>
              <a:endParaRPr/>
            </a:p>
          </p:txBody>
        </p:sp>
        <p:sp>
          <p:nvSpPr>
            <p:cNvPr id="141" name="Google Shape;141;p3"/>
            <p:cNvSpPr/>
            <p:nvPr/>
          </p:nvSpPr>
          <p:spPr>
            <a:xfrm>
              <a:off x="0" y="150493"/>
              <a:ext cx="2471303" cy="741073"/>
            </a:xfrm>
            <a:custGeom>
              <a:rect b="b" l="l" r="r" t="t"/>
              <a:pathLst>
                <a:path extrusionOk="0" h="741073" w="2471303">
                  <a:moveTo>
                    <a:pt x="0" y="0"/>
                  </a:moveTo>
                  <a:lnTo>
                    <a:pt x="2471303" y="0"/>
                  </a:lnTo>
                  <a:lnTo>
                    <a:pt x="2471303" y="741073"/>
                  </a:lnTo>
                  <a:lnTo>
                    <a:pt x="0" y="741073"/>
                  </a:lnTo>
                  <a:lnTo>
                    <a:pt x="0" y="0"/>
                  </a:lnTo>
                  <a:close/>
                </a:path>
              </a:pathLst>
            </a:custGeom>
            <a:blipFill rotWithShape="1">
              <a:blip r:embed="rId5">
                <a:alphaModFix/>
              </a:blip>
              <a:stretch>
                <a:fillRect b="-62227" l="-496" r="-15" t="0"/>
              </a:stretch>
            </a:blipFill>
            <a:ln>
              <a:noFill/>
            </a:ln>
          </p:spPr>
        </p:sp>
      </p:grpSp>
      <p:sp>
        <p:nvSpPr>
          <p:cNvPr id="142" name="Google Shape;142;p3"/>
          <p:cNvSpPr txBox="1"/>
          <p:nvPr/>
        </p:nvSpPr>
        <p:spPr>
          <a:xfrm>
            <a:off x="402123" y="9463762"/>
            <a:ext cx="1878600" cy="246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Montserrat"/>
                <a:ea typeface="Montserrat"/>
                <a:cs typeface="Montserrat"/>
                <a:sym typeface="Montserrat"/>
              </a:rPr>
              <a:t>Jayson Hook</a:t>
            </a:r>
            <a:endParaRPr/>
          </a:p>
        </p:txBody>
      </p:sp>
      <p:sp>
        <p:nvSpPr>
          <p:cNvPr id="143" name="Google Shape;143;p3"/>
          <p:cNvSpPr txBox="1"/>
          <p:nvPr/>
        </p:nvSpPr>
        <p:spPr>
          <a:xfrm>
            <a:off x="515534" y="9782189"/>
            <a:ext cx="1651800" cy="240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CEO &amp; FOUNDER</a:t>
            </a:r>
            <a:endParaRPr/>
          </a:p>
        </p:txBody>
      </p:sp>
      <p:sp>
        <p:nvSpPr>
          <p:cNvPr id="144" name="Google Shape;144;p3"/>
          <p:cNvSpPr/>
          <p:nvPr/>
        </p:nvSpPr>
        <p:spPr>
          <a:xfrm>
            <a:off x="5516095" y="9569696"/>
            <a:ext cx="1878689" cy="366304"/>
          </a:xfrm>
          <a:custGeom>
            <a:rect b="b" l="l" r="r" t="t"/>
            <a:pathLst>
              <a:path extrusionOk="0" h="366304" w="1878689">
                <a:moveTo>
                  <a:pt x="0" y="0"/>
                </a:moveTo>
                <a:lnTo>
                  <a:pt x="1878689" y="0"/>
                </a:lnTo>
                <a:lnTo>
                  <a:pt x="1878689" y="366304"/>
                </a:lnTo>
                <a:lnTo>
                  <a:pt x="0" y="366304"/>
                </a:lnTo>
                <a:lnTo>
                  <a:pt x="0" y="0"/>
                </a:lnTo>
                <a:close/>
              </a:path>
            </a:pathLst>
          </a:custGeom>
          <a:blipFill rotWithShape="1">
            <a:blip r:embed="rId5">
              <a:alphaModFix/>
            </a:blip>
            <a:stretch>
              <a:fillRect b="0" l="0" r="0" t="-148225"/>
            </a:stretch>
          </a:blipFill>
          <a:ln>
            <a:noFill/>
          </a:ln>
        </p:spPr>
      </p:sp>
      <p:sp>
        <p:nvSpPr>
          <p:cNvPr id="145" name="Google Shape;145;p3"/>
          <p:cNvSpPr txBox="1"/>
          <p:nvPr/>
        </p:nvSpPr>
        <p:spPr>
          <a:xfrm>
            <a:off x="322144" y="1399262"/>
            <a:ext cx="6918483" cy="1137002"/>
          </a:xfrm>
          <a:prstGeom prst="rect">
            <a:avLst/>
          </a:prstGeom>
          <a:noFill/>
          <a:ln>
            <a:noFill/>
          </a:ln>
        </p:spPr>
        <p:txBody>
          <a:bodyPr anchorCtr="0" anchor="t" bIns="0" lIns="0" spcFirstLastPara="1" rIns="0" wrap="square" tIns="0">
            <a:spAutoFit/>
          </a:bodyPr>
          <a:lstStyle/>
          <a:p>
            <a:pPr indent="0" lvl="0" marL="0" marR="0" rtl="0" algn="l">
              <a:lnSpc>
                <a:spcPct val="147983"/>
              </a:lnSpc>
              <a:spcBef>
                <a:spcPts val="0"/>
              </a:spcBef>
              <a:spcAft>
                <a:spcPts val="0"/>
              </a:spcAft>
              <a:buNone/>
            </a:pPr>
            <a:r>
              <a:rPr b="1" i="0" lang="en-US" sz="1240" u="none" cap="none" strike="noStrike">
                <a:solidFill>
                  <a:srgbClr val="000000"/>
                </a:solidFill>
                <a:latin typeface="Montserrat"/>
                <a:ea typeface="Montserrat"/>
                <a:cs typeface="Montserrat"/>
                <a:sym typeface="Montserrat"/>
              </a:rPr>
              <a:t>Subject:  </a:t>
            </a:r>
            <a:r>
              <a:rPr b="0" i="0" lang="en-US" sz="1240" u="none" cap="none" strike="noStrike">
                <a:solidFill>
                  <a:srgbClr val="000000"/>
                </a:solidFill>
                <a:latin typeface="Montserrat"/>
                <a:ea typeface="Montserrat"/>
                <a:cs typeface="Montserrat"/>
                <a:sym typeface="Montserrat"/>
              </a:rPr>
              <a:t>Quarterly Franchise Compliance Health Check</a:t>
            </a:r>
            <a:endParaRPr/>
          </a:p>
          <a:p>
            <a:pPr indent="0" lvl="0" marL="0" marR="0" rtl="0" algn="l">
              <a:lnSpc>
                <a:spcPct val="147983"/>
              </a:lnSpc>
              <a:spcBef>
                <a:spcPts val="0"/>
              </a:spcBef>
              <a:spcAft>
                <a:spcPts val="0"/>
              </a:spcAft>
              <a:buNone/>
            </a:pPr>
            <a:r>
              <a:rPr b="1" i="0" lang="en-US" sz="1240" u="none" cap="none" strike="noStrike">
                <a:solidFill>
                  <a:srgbClr val="000000"/>
                </a:solidFill>
                <a:latin typeface="Montserrat"/>
                <a:ea typeface="Montserrat"/>
                <a:cs typeface="Montserrat"/>
                <a:sym typeface="Montserrat"/>
              </a:rPr>
              <a:t>Date: </a:t>
            </a:r>
            <a:r>
              <a:rPr b="0" i="0" lang="en-US" sz="1240" u="none" cap="none" strike="noStrike">
                <a:solidFill>
                  <a:srgbClr val="000000"/>
                </a:solidFill>
                <a:latin typeface="Montserrat"/>
                <a:ea typeface="Montserrat"/>
                <a:cs typeface="Montserrat"/>
                <a:sym typeface="Montserrat"/>
              </a:rPr>
              <a:t>Sept 1, 2025</a:t>
            </a:r>
            <a:endParaRPr/>
          </a:p>
          <a:p>
            <a:pPr indent="0" lvl="0" marL="0" marR="0" rtl="0" algn="l">
              <a:lnSpc>
                <a:spcPct val="147983"/>
              </a:lnSpc>
              <a:spcBef>
                <a:spcPts val="0"/>
              </a:spcBef>
              <a:spcAft>
                <a:spcPts val="0"/>
              </a:spcAft>
              <a:buNone/>
            </a:pPr>
            <a:r>
              <a:rPr b="1" i="0" lang="en-US" sz="1240" u="none" cap="none" strike="noStrike">
                <a:solidFill>
                  <a:srgbClr val="000000"/>
                </a:solidFill>
                <a:latin typeface="Montserrat"/>
                <a:ea typeface="Montserrat"/>
                <a:cs typeface="Montserrat"/>
                <a:sym typeface="Montserrat"/>
              </a:rPr>
              <a:t>To: </a:t>
            </a:r>
            <a:r>
              <a:rPr b="0" i="0" lang="en-US" sz="1240" u="none" cap="none" strike="noStrike">
                <a:solidFill>
                  <a:srgbClr val="000000"/>
                </a:solidFill>
                <a:latin typeface="Montserrat"/>
                <a:ea typeface="Montserrat"/>
                <a:cs typeface="Montserrat"/>
                <a:sym typeface="Montserrat"/>
              </a:rPr>
              <a:t>All Franchisees &amp; Club Operators</a:t>
            </a:r>
            <a:endParaRPr/>
          </a:p>
          <a:p>
            <a:pPr indent="0" lvl="0" marL="0" marR="0" rtl="0" algn="l">
              <a:lnSpc>
                <a:spcPct val="147983"/>
              </a:lnSpc>
              <a:spcBef>
                <a:spcPts val="0"/>
              </a:spcBef>
              <a:spcAft>
                <a:spcPts val="0"/>
              </a:spcAft>
              <a:buNone/>
            </a:pPr>
            <a:r>
              <a:rPr b="1" i="0" lang="en-US" sz="1240" u="none" cap="none" strike="noStrike">
                <a:solidFill>
                  <a:srgbClr val="000000"/>
                </a:solidFill>
                <a:latin typeface="Montserrat"/>
                <a:ea typeface="Montserrat"/>
                <a:cs typeface="Montserrat"/>
                <a:sym typeface="Montserrat"/>
              </a:rPr>
              <a:t>From: </a:t>
            </a:r>
            <a:r>
              <a:rPr b="0" i="0" lang="en-US" sz="1240" u="none" cap="none" strike="noStrike">
                <a:solidFill>
                  <a:srgbClr val="000000"/>
                </a:solidFill>
                <a:latin typeface="Montserrat"/>
                <a:ea typeface="Montserrat"/>
                <a:cs typeface="Montserrat"/>
                <a:sym typeface="Montserrat"/>
              </a:rPr>
              <a:t>UAC Master Franchisee Office</a:t>
            </a:r>
            <a:endParaRPr/>
          </a:p>
          <a:p>
            <a:pPr indent="0" lvl="0" marL="0" marR="0" rtl="0" algn="l">
              <a:lnSpc>
                <a:spcPct val="147983"/>
              </a:lnSpc>
              <a:spcBef>
                <a:spcPts val="0"/>
              </a:spcBef>
              <a:spcAft>
                <a:spcPts val="0"/>
              </a:spcAft>
              <a:buNone/>
            </a:pPr>
            <a:r>
              <a:t/>
            </a:r>
            <a:endParaRPr b="0" i="0" sz="1240" u="none" cap="none" strike="noStrike">
              <a:solidFill>
                <a:srgbClr val="000000"/>
              </a:solidFill>
              <a:latin typeface="Montserrat"/>
              <a:ea typeface="Montserrat"/>
              <a:cs typeface="Montserrat"/>
              <a:sym typeface="Montserrat"/>
            </a:endParaRPr>
          </a:p>
        </p:txBody>
      </p:sp>
      <p:sp>
        <p:nvSpPr>
          <p:cNvPr id="146" name="Google Shape;146;p3"/>
          <p:cNvSpPr txBox="1"/>
          <p:nvPr/>
        </p:nvSpPr>
        <p:spPr>
          <a:xfrm>
            <a:off x="322144" y="2507689"/>
            <a:ext cx="6944700" cy="1643400"/>
          </a:xfrm>
          <a:prstGeom prst="rect">
            <a:avLst/>
          </a:prstGeom>
          <a:noFill/>
          <a:ln>
            <a:noFill/>
          </a:ln>
        </p:spPr>
        <p:txBody>
          <a:bodyPr anchorCtr="0" anchor="t" bIns="0" lIns="0" spcFirstLastPara="1" rIns="0" wrap="square" tIns="0">
            <a:spAutoFit/>
          </a:bodyPr>
          <a:lstStyle/>
          <a:p>
            <a:pPr indent="0" lvl="0" marL="0" marR="0" rtl="0" algn="l">
              <a:lnSpc>
                <a:spcPct val="147980"/>
              </a:lnSpc>
              <a:spcBef>
                <a:spcPts val="0"/>
              </a:spcBef>
              <a:spcAft>
                <a:spcPts val="0"/>
              </a:spcAft>
              <a:buNone/>
            </a:pPr>
            <a:r>
              <a:rPr b="1" i="1" lang="en-US" sz="939" u="none" cap="none" strike="noStrike">
                <a:solidFill>
                  <a:srgbClr val="000000"/>
                </a:solidFill>
                <a:latin typeface="Montserrat"/>
                <a:ea typeface="Montserrat"/>
                <a:cs typeface="Montserrat"/>
                <a:sym typeface="Montserrat"/>
              </a:rPr>
              <a:t>Dear Franchisee,</a:t>
            </a:r>
            <a:endParaRPr sz="1300"/>
          </a:p>
          <a:p>
            <a:pPr indent="0" lvl="0" marL="0" marR="0" rtl="0" algn="l">
              <a:lnSpc>
                <a:spcPct val="147980"/>
              </a:lnSpc>
              <a:spcBef>
                <a:spcPts val="0"/>
              </a:spcBef>
              <a:spcAft>
                <a:spcPts val="0"/>
              </a:spcAft>
              <a:buNone/>
            </a:pPr>
            <a:r>
              <a:t/>
            </a:r>
            <a:endParaRPr b="1" i="1" sz="939" u="none" cap="none" strike="noStrike">
              <a:solidFill>
                <a:srgbClr val="000000"/>
              </a:solidFill>
              <a:latin typeface="Montserrat"/>
              <a:ea typeface="Montserrat"/>
              <a:cs typeface="Montserrat"/>
              <a:sym typeface="Montserrat"/>
            </a:endParaRPr>
          </a:p>
          <a:p>
            <a:pPr indent="0" lvl="0" marL="0" marR="0" rtl="0" algn="l">
              <a:lnSpc>
                <a:spcPct val="147980"/>
              </a:lnSpc>
              <a:spcBef>
                <a:spcPts val="0"/>
              </a:spcBef>
              <a:spcAft>
                <a:spcPts val="0"/>
              </a:spcAft>
              <a:buNone/>
            </a:pPr>
            <a:r>
              <a:rPr b="1" i="0" lang="en-US" sz="939" u="none" cap="none" strike="noStrike">
                <a:solidFill>
                  <a:srgbClr val="000000"/>
                </a:solidFill>
                <a:latin typeface="Montserrat"/>
                <a:ea typeface="Montserrat"/>
                <a:cs typeface="Montserrat"/>
                <a:sym typeface="Montserrat"/>
              </a:rPr>
              <a:t>       </a:t>
            </a:r>
            <a:r>
              <a:rPr b="0" i="0" lang="en-US" sz="939" u="none" cap="none" strike="noStrike">
                <a:solidFill>
                  <a:srgbClr val="000000"/>
                </a:solidFill>
                <a:latin typeface="Montserrat"/>
                <a:ea typeface="Montserrat"/>
                <a:cs typeface="Montserrat"/>
                <a:sym typeface="Montserrat"/>
              </a:rPr>
              <a:t>As part of our commitment to maintaining UAC’s brand standards, operational excellence, and member experience, we are rolling out the Quarterly Franchise Compliance Health Check across all clubs.</a:t>
            </a:r>
            <a:endParaRPr sz="1300"/>
          </a:p>
          <a:p>
            <a:pPr indent="0" lvl="0" marL="0" marR="0" rtl="0" algn="l">
              <a:lnSpc>
                <a:spcPct val="147980"/>
              </a:lnSpc>
              <a:spcBef>
                <a:spcPts val="0"/>
              </a:spcBef>
              <a:spcAft>
                <a:spcPts val="0"/>
              </a:spcAft>
              <a:buNone/>
            </a:pPr>
            <a:r>
              <a:t/>
            </a:r>
            <a:endParaRPr b="0" i="0" sz="939" u="none" cap="none" strike="noStrike">
              <a:solidFill>
                <a:srgbClr val="000000"/>
              </a:solidFill>
              <a:latin typeface="Montserrat"/>
              <a:ea typeface="Montserrat"/>
              <a:cs typeface="Montserrat"/>
              <a:sym typeface="Montserrat"/>
            </a:endParaRPr>
          </a:p>
          <a:p>
            <a:pPr indent="0" lvl="0" marL="0" marR="0" rtl="0" algn="l">
              <a:lnSpc>
                <a:spcPct val="147980"/>
              </a:lnSpc>
              <a:spcBef>
                <a:spcPts val="0"/>
              </a:spcBef>
              <a:spcAft>
                <a:spcPts val="0"/>
              </a:spcAft>
              <a:buNone/>
            </a:pPr>
            <a:r>
              <a:rPr b="0" i="0" lang="en-US" sz="939" u="none" cap="none" strike="noStrike">
                <a:solidFill>
                  <a:srgbClr val="000000"/>
                </a:solidFill>
                <a:latin typeface="Montserrat"/>
                <a:ea typeface="Montserrat"/>
                <a:cs typeface="Montserrat"/>
                <a:sym typeface="Montserrat"/>
              </a:rPr>
              <a:t>This initiative ensures that every location is aligned with UAC’s systems, safety protocols, and brand presentation, while also identifying areas where additional support or training may be required.</a:t>
            </a:r>
            <a:endParaRPr sz="1300"/>
          </a:p>
          <a:p>
            <a:pPr indent="0" lvl="0" marL="0" marR="0" rtl="0" algn="l">
              <a:lnSpc>
                <a:spcPct val="147980"/>
              </a:lnSpc>
              <a:spcBef>
                <a:spcPts val="0"/>
              </a:spcBef>
              <a:spcAft>
                <a:spcPts val="0"/>
              </a:spcAft>
              <a:buNone/>
            </a:pPr>
            <a:r>
              <a:t/>
            </a:r>
            <a:endParaRPr b="0" i="0" sz="939" u="none" cap="none" strike="noStrike">
              <a:solidFill>
                <a:srgbClr val="000000"/>
              </a:solidFill>
              <a:latin typeface="Montserrat"/>
              <a:ea typeface="Montserrat"/>
              <a:cs typeface="Montserrat"/>
              <a:sym typeface="Montserrat"/>
            </a:endParaRPr>
          </a:p>
        </p:txBody>
      </p:sp>
      <p:sp>
        <p:nvSpPr>
          <p:cNvPr id="147" name="Google Shape;147;p3"/>
          <p:cNvSpPr txBox="1"/>
          <p:nvPr/>
        </p:nvSpPr>
        <p:spPr>
          <a:xfrm>
            <a:off x="322144" y="4224842"/>
            <a:ext cx="6774000" cy="4855200"/>
          </a:xfrm>
          <a:prstGeom prst="rect">
            <a:avLst/>
          </a:prstGeom>
          <a:noFill/>
          <a:ln>
            <a:noFill/>
          </a:ln>
        </p:spPr>
        <p:txBody>
          <a:bodyPr anchorCtr="0" anchor="t" bIns="0" lIns="0" spcFirstLastPara="1" rIns="0" wrap="square" tIns="0">
            <a:spAutoFit/>
          </a:bodyPr>
          <a:lstStyle/>
          <a:p>
            <a:pPr indent="0" lvl="0" marL="0" marR="0" rtl="0" algn="l">
              <a:lnSpc>
                <a:spcPct val="147980"/>
              </a:lnSpc>
              <a:spcBef>
                <a:spcPts val="0"/>
              </a:spcBef>
              <a:spcAft>
                <a:spcPts val="0"/>
              </a:spcAft>
              <a:buNone/>
            </a:pPr>
            <a:r>
              <a:rPr b="1" i="1" lang="en-US" sz="939" u="none" cap="none" strike="noStrike">
                <a:solidFill>
                  <a:srgbClr val="000000"/>
                </a:solidFill>
                <a:latin typeface="Montserrat"/>
                <a:ea typeface="Montserrat"/>
                <a:cs typeface="Montserrat"/>
                <a:sym typeface="Montserrat"/>
              </a:rPr>
              <a:t>What You Need to Know</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Frequency: Once every quarter (4x annually)</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Tool: Audit will be conducted through an online JotForm link provided to your club</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Process:</a:t>
            </a:r>
            <a:endParaRPr sz="1300"/>
          </a:p>
          <a:p>
            <a:pPr indent="-143355" lvl="2" marL="449114" marR="0" rtl="0" algn="l">
              <a:lnSpc>
                <a:spcPct val="147980"/>
              </a:lnSpc>
              <a:spcBef>
                <a:spcPts val="0"/>
              </a:spcBef>
              <a:spcAft>
                <a:spcPts val="0"/>
              </a:spcAft>
              <a:buClr>
                <a:srgbClr val="000000"/>
              </a:buClr>
              <a:buSzPts val="940"/>
              <a:buFont typeface="Montserrat"/>
              <a:buAutoNum type="alphaLcPeriod"/>
            </a:pPr>
            <a:r>
              <a:rPr b="0" i="0" lang="en-US" sz="939" u="none" cap="none" strike="noStrike">
                <a:solidFill>
                  <a:srgbClr val="000000"/>
                </a:solidFill>
                <a:latin typeface="Montserrat"/>
                <a:ea typeface="Montserrat"/>
                <a:cs typeface="Montserrat"/>
                <a:sym typeface="Montserrat"/>
              </a:rPr>
              <a:t>Assigned staff completes the online audit form</a:t>
            </a:r>
            <a:endParaRPr sz="1300"/>
          </a:p>
          <a:p>
            <a:pPr indent="-143355" lvl="2" marL="449114" marR="0" rtl="0" algn="l">
              <a:lnSpc>
                <a:spcPct val="147980"/>
              </a:lnSpc>
              <a:spcBef>
                <a:spcPts val="0"/>
              </a:spcBef>
              <a:spcAft>
                <a:spcPts val="0"/>
              </a:spcAft>
              <a:buClr>
                <a:srgbClr val="000000"/>
              </a:buClr>
              <a:buSzPts val="940"/>
              <a:buFont typeface="Montserrat"/>
              <a:buAutoNum type="alphaLcPeriod"/>
            </a:pPr>
            <a:r>
              <a:rPr b="0" i="0" lang="en-US" sz="939" u="none" cap="none" strike="noStrike">
                <a:solidFill>
                  <a:srgbClr val="000000"/>
                </a:solidFill>
                <a:latin typeface="Montserrat"/>
                <a:ea typeface="Montserrat"/>
                <a:cs typeface="Montserrat"/>
                <a:sym typeface="Montserrat"/>
              </a:rPr>
              <a:t>Photos and notes can be attached for clarity</a:t>
            </a:r>
            <a:endParaRPr sz="1300"/>
          </a:p>
          <a:p>
            <a:pPr indent="-143355" lvl="2" marL="449114" marR="0" rtl="0" algn="l">
              <a:lnSpc>
                <a:spcPct val="147980"/>
              </a:lnSpc>
              <a:spcBef>
                <a:spcPts val="0"/>
              </a:spcBef>
              <a:spcAft>
                <a:spcPts val="0"/>
              </a:spcAft>
              <a:buClr>
                <a:srgbClr val="000000"/>
              </a:buClr>
              <a:buSzPts val="940"/>
              <a:buFont typeface="Montserrat"/>
              <a:buAutoNum type="alphaLcPeriod"/>
            </a:pPr>
            <a:r>
              <a:rPr b="0" i="0" lang="en-US" sz="939" u="none" cap="none" strike="noStrike">
                <a:solidFill>
                  <a:srgbClr val="000000"/>
                </a:solidFill>
                <a:latin typeface="Montserrat"/>
                <a:ea typeface="Montserrat"/>
                <a:cs typeface="Montserrat"/>
                <a:sym typeface="Montserrat"/>
              </a:rPr>
              <a:t>Audit results are automatically emailed to both the auditor and Master Franchisee</a:t>
            </a:r>
            <a:endParaRPr sz="1300"/>
          </a:p>
          <a:p>
            <a:pPr indent="-143355" lvl="2" marL="449114" marR="0" rtl="0" algn="l">
              <a:lnSpc>
                <a:spcPct val="147980"/>
              </a:lnSpc>
              <a:spcBef>
                <a:spcPts val="0"/>
              </a:spcBef>
              <a:spcAft>
                <a:spcPts val="0"/>
              </a:spcAft>
              <a:buClr>
                <a:srgbClr val="000000"/>
              </a:buClr>
              <a:buSzPts val="940"/>
              <a:buFont typeface="Montserrat"/>
              <a:buAutoNum type="alphaLcPeriod"/>
            </a:pPr>
            <a:r>
              <a:rPr b="0" i="0" lang="en-US" sz="939" u="none" cap="none" strike="noStrike">
                <a:solidFill>
                  <a:srgbClr val="000000"/>
                </a:solidFill>
                <a:latin typeface="Montserrat"/>
                <a:ea typeface="Montserrat"/>
                <a:cs typeface="Montserrat"/>
                <a:sym typeface="Montserrat"/>
              </a:rPr>
              <a:t>A consolidated quarterly report will be shared with leadership</a:t>
            </a:r>
            <a:endParaRPr sz="1300"/>
          </a:p>
          <a:p>
            <a:pPr indent="0" lvl="0" marL="0" marR="0" rtl="0" algn="l">
              <a:lnSpc>
                <a:spcPct val="147980"/>
              </a:lnSpc>
              <a:spcBef>
                <a:spcPts val="0"/>
              </a:spcBef>
              <a:spcAft>
                <a:spcPts val="0"/>
              </a:spcAft>
              <a:buNone/>
            </a:pPr>
            <a:r>
              <a:t/>
            </a:r>
            <a:endParaRPr b="0" i="0" sz="939" u="none" cap="none" strike="noStrike">
              <a:solidFill>
                <a:srgbClr val="000000"/>
              </a:solidFill>
              <a:latin typeface="Montserrat"/>
              <a:ea typeface="Montserrat"/>
              <a:cs typeface="Montserrat"/>
              <a:sym typeface="Montserrat"/>
            </a:endParaRPr>
          </a:p>
          <a:p>
            <a:pPr indent="0" lvl="0" marL="0" marR="0" rtl="0" algn="l">
              <a:lnSpc>
                <a:spcPct val="147980"/>
              </a:lnSpc>
              <a:spcBef>
                <a:spcPts val="0"/>
              </a:spcBef>
              <a:spcAft>
                <a:spcPts val="0"/>
              </a:spcAft>
              <a:buNone/>
            </a:pPr>
            <a:r>
              <a:rPr b="1" i="1" lang="en-US" sz="939" u="none" cap="none" strike="noStrike">
                <a:solidFill>
                  <a:srgbClr val="000000"/>
                </a:solidFill>
                <a:latin typeface="Montserrat"/>
                <a:ea typeface="Montserrat"/>
                <a:cs typeface="Montserrat"/>
                <a:sym typeface="Montserrat"/>
              </a:rPr>
              <a:t>Your Role</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Ensure designated staff complete the audit honestly and accurately</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Review audit summaries sent to your email and action any required improvements</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Collaborate with Master Franchisee where support is needed</a:t>
            </a:r>
            <a:endParaRPr sz="1300"/>
          </a:p>
          <a:p>
            <a:pPr indent="0" lvl="0" marL="0" marR="0" rtl="0" algn="l">
              <a:lnSpc>
                <a:spcPct val="147980"/>
              </a:lnSpc>
              <a:spcBef>
                <a:spcPts val="0"/>
              </a:spcBef>
              <a:spcAft>
                <a:spcPts val="0"/>
              </a:spcAft>
              <a:buNone/>
            </a:pPr>
            <a:r>
              <a:t/>
            </a:r>
            <a:endParaRPr b="0" i="0" sz="939" u="none" cap="none" strike="noStrike">
              <a:solidFill>
                <a:srgbClr val="000000"/>
              </a:solidFill>
              <a:latin typeface="Montserrat"/>
              <a:ea typeface="Montserrat"/>
              <a:cs typeface="Montserrat"/>
              <a:sym typeface="Montserrat"/>
            </a:endParaRPr>
          </a:p>
          <a:p>
            <a:pPr indent="0" lvl="0" marL="0" marR="0" rtl="0" algn="l">
              <a:lnSpc>
                <a:spcPct val="147980"/>
              </a:lnSpc>
              <a:spcBef>
                <a:spcPts val="0"/>
              </a:spcBef>
              <a:spcAft>
                <a:spcPts val="0"/>
              </a:spcAft>
              <a:buNone/>
            </a:pPr>
            <a:r>
              <a:rPr b="1" i="1" lang="en-US" sz="939" u="none" cap="none" strike="noStrike">
                <a:solidFill>
                  <a:srgbClr val="000000"/>
                </a:solidFill>
                <a:latin typeface="Montserrat"/>
                <a:ea typeface="Montserrat"/>
                <a:cs typeface="Montserrat"/>
                <a:sym typeface="Montserrat"/>
              </a:rPr>
              <a:t>Why This Matters</a:t>
            </a:r>
            <a:endParaRPr sz="1300"/>
          </a:p>
          <a:p>
            <a:pPr indent="0" lvl="0" marL="0" marR="0" rtl="0" algn="l">
              <a:lnSpc>
                <a:spcPct val="147980"/>
              </a:lnSpc>
              <a:spcBef>
                <a:spcPts val="0"/>
              </a:spcBef>
              <a:spcAft>
                <a:spcPts val="0"/>
              </a:spcAft>
              <a:buNone/>
            </a:pPr>
            <a:r>
              <a:rPr b="0" i="0" lang="en-US" sz="939" u="none" cap="none" strike="noStrike">
                <a:solidFill>
                  <a:srgbClr val="000000"/>
                </a:solidFill>
                <a:latin typeface="Montserrat"/>
                <a:ea typeface="Montserrat"/>
                <a:cs typeface="Montserrat"/>
                <a:sym typeface="Montserrat"/>
              </a:rPr>
              <a:t>The Health Check is designed not only for compliance, but also as a support tool to help your club thrive by:</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Maintaining a safe and consistent environment for members</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Upholding UAC’s brand reputation across all locations</a:t>
            </a:r>
            <a:endParaRPr sz="1300"/>
          </a:p>
          <a:p>
            <a:pPr indent="-105929" lvl="1" marL="224558" marR="0" rtl="0" algn="l">
              <a:lnSpc>
                <a:spcPct val="147980"/>
              </a:lnSpc>
              <a:spcBef>
                <a:spcPts val="0"/>
              </a:spcBef>
              <a:spcAft>
                <a:spcPts val="0"/>
              </a:spcAft>
              <a:buClr>
                <a:srgbClr val="000000"/>
              </a:buClr>
              <a:buSzPts val="940"/>
              <a:buFont typeface="Arial"/>
              <a:buChar char="•"/>
            </a:pPr>
            <a:r>
              <a:rPr b="0" i="0" lang="en-US" sz="939" u="none" cap="none" strike="noStrike">
                <a:solidFill>
                  <a:srgbClr val="000000"/>
                </a:solidFill>
                <a:latin typeface="Montserrat"/>
                <a:ea typeface="Montserrat"/>
                <a:cs typeface="Montserrat"/>
                <a:sym typeface="Montserrat"/>
              </a:rPr>
              <a:t>Identifying opportunities for operational improvements</a:t>
            </a:r>
            <a:endParaRPr sz="1300"/>
          </a:p>
          <a:p>
            <a:pPr indent="0" lvl="0" marL="0" marR="0" rtl="0" algn="l">
              <a:lnSpc>
                <a:spcPct val="147980"/>
              </a:lnSpc>
              <a:spcBef>
                <a:spcPts val="0"/>
              </a:spcBef>
              <a:spcAft>
                <a:spcPts val="0"/>
              </a:spcAft>
              <a:buNone/>
            </a:pPr>
            <a:r>
              <a:t/>
            </a:r>
            <a:endParaRPr b="0" i="0" sz="939" u="none" cap="none" strike="noStrike">
              <a:solidFill>
                <a:srgbClr val="000000"/>
              </a:solidFill>
              <a:latin typeface="Montserrat"/>
              <a:ea typeface="Montserrat"/>
              <a:cs typeface="Montserrat"/>
              <a:sym typeface="Montserrat"/>
            </a:endParaRPr>
          </a:p>
          <a:p>
            <a:pPr indent="0" lvl="0" marL="0" marR="0" rtl="0" algn="l">
              <a:lnSpc>
                <a:spcPct val="147980"/>
              </a:lnSpc>
              <a:spcBef>
                <a:spcPts val="0"/>
              </a:spcBef>
              <a:spcAft>
                <a:spcPts val="0"/>
              </a:spcAft>
              <a:buNone/>
            </a:pPr>
            <a:r>
              <a:rPr b="0" i="0" lang="en-US" sz="939" u="none" cap="none" strike="noStrike">
                <a:solidFill>
                  <a:srgbClr val="000000"/>
                </a:solidFill>
                <a:latin typeface="Montserrat"/>
                <a:ea typeface="Montserrat"/>
                <a:cs typeface="Montserrat"/>
                <a:sym typeface="Montserrat"/>
              </a:rPr>
              <a:t>We appreciate your cooperation and commitment to keeping UAC at the highest standard. Together, we ensure that our franchise system continues to deliver quality, consistency, and excellence to every member, every day.</a:t>
            </a:r>
            <a:endParaRPr sz="1300"/>
          </a:p>
          <a:p>
            <a:pPr indent="0" lvl="0" marL="0" marR="0" rtl="0" algn="l">
              <a:lnSpc>
                <a:spcPct val="147980"/>
              </a:lnSpc>
              <a:spcBef>
                <a:spcPts val="0"/>
              </a:spcBef>
              <a:spcAft>
                <a:spcPts val="0"/>
              </a:spcAft>
              <a:buNone/>
            </a:pPr>
            <a:r>
              <a:t/>
            </a:r>
            <a:endParaRPr b="0" i="0" sz="939"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7996c0e42b_0_3"/>
          <p:cNvSpPr/>
          <p:nvPr/>
        </p:nvSpPr>
        <p:spPr>
          <a:xfrm>
            <a:off x="1799336" y="0"/>
            <a:ext cx="5756128" cy="2097369"/>
          </a:xfrm>
          <a:custGeom>
            <a:rect b="b" l="l" r="r" t="t"/>
            <a:pathLst>
              <a:path extrusionOk="0" h="2097369" w="5756128">
                <a:moveTo>
                  <a:pt x="0" y="0"/>
                </a:moveTo>
                <a:lnTo>
                  <a:pt x="5756128" y="0"/>
                </a:lnTo>
                <a:lnTo>
                  <a:pt x="5756128" y="2097369"/>
                </a:lnTo>
                <a:lnTo>
                  <a:pt x="0" y="2097369"/>
                </a:lnTo>
                <a:lnTo>
                  <a:pt x="0" y="0"/>
                </a:lnTo>
                <a:close/>
              </a:path>
            </a:pathLst>
          </a:custGeom>
          <a:blipFill rotWithShape="1">
            <a:blip r:embed="rId3">
              <a:alphaModFix/>
            </a:blip>
            <a:stretch>
              <a:fillRect b="0" l="-239" r="-8689" t="-22579"/>
            </a:stretch>
          </a:blipFill>
          <a:ln>
            <a:noFill/>
          </a:ln>
        </p:spPr>
      </p:sp>
      <p:sp>
        <p:nvSpPr>
          <p:cNvPr id="153" name="Google Shape;153;g37996c0e42b_0_3"/>
          <p:cNvSpPr/>
          <p:nvPr/>
        </p:nvSpPr>
        <p:spPr>
          <a:xfrm>
            <a:off x="7307" y="10022854"/>
            <a:ext cx="7548157" cy="687146"/>
          </a:xfrm>
          <a:custGeom>
            <a:rect b="b" l="l" r="r" t="t"/>
            <a:pathLst>
              <a:path extrusionOk="0" h="687146" w="7548157">
                <a:moveTo>
                  <a:pt x="0" y="0"/>
                </a:moveTo>
                <a:lnTo>
                  <a:pt x="7548157" y="0"/>
                </a:lnTo>
                <a:lnTo>
                  <a:pt x="7548157" y="687146"/>
                </a:lnTo>
                <a:lnTo>
                  <a:pt x="0" y="687146"/>
                </a:lnTo>
                <a:lnTo>
                  <a:pt x="0" y="0"/>
                </a:lnTo>
                <a:close/>
              </a:path>
            </a:pathLst>
          </a:custGeom>
          <a:blipFill rotWithShape="1">
            <a:blip r:embed="rId4">
              <a:alphaModFix/>
            </a:blip>
            <a:stretch>
              <a:fillRect b="-35089" l="-1429" r="0" t="0"/>
            </a:stretch>
          </a:blipFill>
          <a:ln>
            <a:noFill/>
          </a:ln>
        </p:spPr>
      </p:sp>
      <p:sp>
        <p:nvSpPr>
          <p:cNvPr id="154" name="Google Shape;154;g37996c0e42b_0_3"/>
          <p:cNvSpPr/>
          <p:nvPr/>
        </p:nvSpPr>
        <p:spPr>
          <a:xfrm>
            <a:off x="156708" y="587576"/>
            <a:ext cx="1853477" cy="555805"/>
          </a:xfrm>
          <a:custGeom>
            <a:rect b="b" l="l" r="r" t="t"/>
            <a:pathLst>
              <a:path extrusionOk="0" h="741073" w="2471303">
                <a:moveTo>
                  <a:pt x="0" y="0"/>
                </a:moveTo>
                <a:lnTo>
                  <a:pt x="2471303" y="0"/>
                </a:lnTo>
                <a:lnTo>
                  <a:pt x="2471303" y="741073"/>
                </a:lnTo>
                <a:lnTo>
                  <a:pt x="0" y="741073"/>
                </a:lnTo>
                <a:lnTo>
                  <a:pt x="0" y="0"/>
                </a:lnTo>
                <a:close/>
              </a:path>
            </a:pathLst>
          </a:custGeom>
          <a:blipFill rotWithShape="1">
            <a:blip r:embed="rId5">
              <a:alphaModFix/>
            </a:blip>
            <a:stretch>
              <a:fillRect b="-62229" l="-499" r="-9" t="0"/>
            </a:stretch>
          </a:blipFill>
          <a:ln>
            <a:noFill/>
          </a:ln>
        </p:spPr>
      </p:sp>
      <p:sp>
        <p:nvSpPr>
          <p:cNvPr id="155" name="Google Shape;155;g37996c0e42b_0_3"/>
          <p:cNvSpPr/>
          <p:nvPr/>
        </p:nvSpPr>
        <p:spPr>
          <a:xfrm>
            <a:off x="5516095" y="9569696"/>
            <a:ext cx="1878689" cy="366304"/>
          </a:xfrm>
          <a:custGeom>
            <a:rect b="b" l="l" r="r" t="t"/>
            <a:pathLst>
              <a:path extrusionOk="0" h="366304" w="1878689">
                <a:moveTo>
                  <a:pt x="0" y="0"/>
                </a:moveTo>
                <a:lnTo>
                  <a:pt x="1878689" y="0"/>
                </a:lnTo>
                <a:lnTo>
                  <a:pt x="1878689" y="366304"/>
                </a:lnTo>
                <a:lnTo>
                  <a:pt x="0" y="366304"/>
                </a:lnTo>
                <a:lnTo>
                  <a:pt x="0" y="0"/>
                </a:lnTo>
                <a:close/>
              </a:path>
            </a:pathLst>
          </a:custGeom>
          <a:blipFill rotWithShape="1">
            <a:blip r:embed="rId5">
              <a:alphaModFix/>
            </a:blip>
            <a:stretch>
              <a:fillRect b="0" l="0" r="0" t="-148225"/>
            </a:stretch>
          </a:blipFill>
          <a:ln>
            <a:noFill/>
          </a:ln>
        </p:spPr>
      </p:sp>
      <p:sp>
        <p:nvSpPr>
          <p:cNvPr id="156" name="Google Shape;156;g37996c0e42b_0_3"/>
          <p:cNvSpPr txBox="1"/>
          <p:nvPr/>
        </p:nvSpPr>
        <p:spPr>
          <a:xfrm>
            <a:off x="322144" y="1399262"/>
            <a:ext cx="6918600" cy="4992600"/>
          </a:xfrm>
          <a:prstGeom prst="rect">
            <a:avLst/>
          </a:prstGeom>
          <a:noFill/>
          <a:ln>
            <a:noFill/>
          </a:ln>
        </p:spPr>
        <p:txBody>
          <a:bodyPr anchorCtr="0" anchor="t" bIns="0" lIns="0" spcFirstLastPara="1" rIns="0" wrap="square" tIns="0">
            <a:spAutoFit/>
          </a:bodyPr>
          <a:lstStyle/>
          <a:p>
            <a:pPr indent="0" lvl="0" marL="0" marR="0" rtl="0" algn="l">
              <a:lnSpc>
                <a:spcPct val="147983"/>
              </a:lnSpc>
              <a:spcBef>
                <a:spcPts val="0"/>
              </a:spcBef>
              <a:spcAft>
                <a:spcPts val="0"/>
              </a:spcAft>
              <a:buNone/>
            </a:pPr>
            <a:r>
              <a:rPr b="1" i="0" lang="en-US" sz="1240" u="none" cap="none" strike="noStrike">
                <a:solidFill>
                  <a:srgbClr val="000000"/>
                </a:solidFill>
                <a:latin typeface="Montserrat"/>
                <a:ea typeface="Montserrat"/>
                <a:cs typeface="Montserrat"/>
                <a:sym typeface="Montserrat"/>
              </a:rPr>
              <a:t>SPECIAL LINKS:</a:t>
            </a:r>
            <a:endParaRPr b="1" i="0" sz="1240" u="none" cap="none" strike="noStrike">
              <a:solidFill>
                <a:srgbClr val="000000"/>
              </a:solidFill>
              <a:latin typeface="Montserrat"/>
              <a:ea typeface="Montserrat"/>
              <a:cs typeface="Montserrat"/>
              <a:sym typeface="Montserrat"/>
            </a:endParaRPr>
          </a:p>
          <a:p>
            <a:pPr indent="0" lvl="0" marL="0" marR="0" rtl="0" algn="l">
              <a:lnSpc>
                <a:spcPct val="147983"/>
              </a:lnSpc>
              <a:spcBef>
                <a:spcPts val="0"/>
              </a:spcBef>
              <a:spcAft>
                <a:spcPts val="0"/>
              </a:spcAft>
              <a:buNone/>
            </a:pPr>
            <a:r>
              <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rPr b="1" lang="en-US" sz="1240">
                <a:latin typeface="Montserrat"/>
                <a:ea typeface="Montserrat"/>
                <a:cs typeface="Montserrat"/>
                <a:sym typeface="Montserrat"/>
              </a:rPr>
              <a:t>Kindly see link to the following:</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rPr b="1" lang="en-US" sz="1240">
                <a:latin typeface="Montserrat"/>
                <a:ea typeface="Montserrat"/>
                <a:cs typeface="Montserrat"/>
                <a:sym typeface="Montserrat"/>
              </a:rPr>
              <a:t>Collaborator Link to edit the form - </a:t>
            </a:r>
            <a:r>
              <a:rPr b="1" lang="en-US" sz="1240" u="sng">
                <a:solidFill>
                  <a:schemeClr val="hlink"/>
                </a:solidFill>
                <a:latin typeface="Montserrat"/>
                <a:ea typeface="Montserrat"/>
                <a:cs typeface="Montserrat"/>
                <a:sym typeface="Montserrat"/>
                <a:hlinkClick r:id="rId6"/>
              </a:rPr>
              <a:t>https://www.jotform.com/build/252348875142462?iak=f289b22d286ce4d817bca503946d3391-5c57c83c9aab290f</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rPr b="1" lang="en-US" sz="1240">
                <a:latin typeface="Montserrat"/>
                <a:ea typeface="Montserrat"/>
                <a:cs typeface="Montserrat"/>
                <a:sym typeface="Montserrat"/>
              </a:rPr>
              <a:t>Live Link of the Audit form - https://form.jotform.com/252348875142462</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rPr b="1" lang="en-US" sz="1240">
                <a:latin typeface="Montserrat"/>
                <a:ea typeface="Montserrat"/>
                <a:cs typeface="Montserrat"/>
                <a:sym typeface="Montserrat"/>
              </a:rPr>
              <a:t>Responses Spreadsheet (editor) - </a:t>
            </a:r>
            <a:r>
              <a:rPr b="1" lang="en-US" sz="1240" u="sng">
                <a:solidFill>
                  <a:schemeClr val="hlink"/>
                </a:solidFill>
                <a:latin typeface="Montserrat"/>
                <a:ea typeface="Montserrat"/>
                <a:cs typeface="Montserrat"/>
                <a:sym typeface="Montserrat"/>
                <a:hlinkClick r:id="rId7"/>
              </a:rPr>
              <a:t>https://docs.google.com/spreadsheets/d/1-Z-724SEbMttaTj5MBwLxcIORvEQUNPPQLh34vN25mQ/edit?usp=sharing</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rPr b="1" lang="en-US" sz="1240">
                <a:latin typeface="Montserrat"/>
                <a:ea typeface="Montserrat"/>
                <a:cs typeface="Montserrat"/>
                <a:sym typeface="Montserrat"/>
              </a:rPr>
              <a:t>UAC Franchise Compliance Health Check Docs - </a:t>
            </a:r>
            <a:r>
              <a:rPr b="1" lang="en-US" sz="1240" u="sng">
                <a:solidFill>
                  <a:schemeClr val="hlink"/>
                </a:solidFill>
                <a:latin typeface="Montserrat"/>
                <a:ea typeface="Montserrat"/>
                <a:cs typeface="Montserrat"/>
                <a:sym typeface="Montserrat"/>
                <a:hlinkClick r:id="rId8"/>
              </a:rPr>
              <a:t>https://drive.google.com/drive/folders/11_WNT3GpE383N3zO2hSTP2wJaSgodOWs?usp=sharing</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t/>
            </a:r>
            <a:endParaRPr b="1" sz="1240">
              <a:latin typeface="Montserrat"/>
              <a:ea typeface="Montserrat"/>
              <a:cs typeface="Montserrat"/>
              <a:sym typeface="Montserrat"/>
            </a:endParaRPr>
          </a:p>
          <a:p>
            <a:pPr indent="0" lvl="0" marL="0" marR="0" rtl="0" algn="l">
              <a:lnSpc>
                <a:spcPct val="147983"/>
              </a:lnSpc>
              <a:spcBef>
                <a:spcPts val="0"/>
              </a:spcBef>
              <a:spcAft>
                <a:spcPts val="0"/>
              </a:spcAft>
              <a:buNone/>
            </a:pPr>
            <a:r>
              <a:t/>
            </a:r>
            <a:endParaRPr b="1" sz="1240">
              <a:latin typeface="Montserrat"/>
              <a:ea typeface="Montserrat"/>
              <a:cs typeface="Montserrat"/>
              <a:sym typeface="Montserrat"/>
            </a:endParaRPr>
          </a:p>
        </p:txBody>
      </p:sp>
      <p:sp>
        <p:nvSpPr>
          <p:cNvPr id="157" name="Google Shape;157;g37996c0e42b_0_3"/>
          <p:cNvSpPr txBox="1"/>
          <p:nvPr/>
        </p:nvSpPr>
        <p:spPr>
          <a:xfrm>
            <a:off x="322144" y="2507689"/>
            <a:ext cx="6944700" cy="160200"/>
          </a:xfrm>
          <a:prstGeom prst="rect">
            <a:avLst/>
          </a:prstGeom>
          <a:noFill/>
          <a:ln>
            <a:noFill/>
          </a:ln>
        </p:spPr>
        <p:txBody>
          <a:bodyPr anchorCtr="0" anchor="t" bIns="0" lIns="0" spcFirstLastPara="1" rIns="0" wrap="square" tIns="0">
            <a:spAutoFit/>
          </a:bodyPr>
          <a:lstStyle/>
          <a:p>
            <a:pPr indent="0" lvl="0" marL="0" marR="0" rtl="0" algn="l">
              <a:lnSpc>
                <a:spcPct val="147980"/>
              </a:lnSpc>
              <a:spcBef>
                <a:spcPts val="0"/>
              </a:spcBef>
              <a:spcAft>
                <a:spcPts val="0"/>
              </a:spcAft>
              <a:buNone/>
            </a:pPr>
            <a:r>
              <a:rPr b="1" i="1" lang="en-US" sz="1040" u="none" cap="none" strike="noStrike">
                <a:solidFill>
                  <a:srgbClr val="000000"/>
                </a:solidFill>
                <a:latin typeface="Montserrat"/>
                <a:ea typeface="Montserrat"/>
                <a:cs typeface="Montserrat"/>
                <a:sym typeface="Montserrat"/>
              </a:rPr>
              <a:t>D</a:t>
            </a:r>
            <a:endParaRPr b="0" i="0" sz="1040" u="none" cap="none" strike="noStrike">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